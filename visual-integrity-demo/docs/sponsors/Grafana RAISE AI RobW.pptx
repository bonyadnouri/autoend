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0b1c41c0e_2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f0b1c41c0e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EM in Grafana Lab’s AI dept.</a:t>
            </a:r>
            <a:endParaRPr/>
          </a:p>
          <a:p>
            <a:pPr indent="0" lvl="0" marL="0" rtl="0" algn="l">
              <a:spcBef>
                <a:spcPts val="0"/>
              </a:spcBef>
              <a:spcAft>
                <a:spcPts val="0"/>
              </a:spcAft>
              <a:buNone/>
            </a:pPr>
            <a:r>
              <a:rPr lang="en"/>
              <a:t>You may know Grafana Labs &amp; Grafana Cloud already</a:t>
            </a:r>
            <a:endParaRPr/>
          </a:p>
          <a:p>
            <a:pPr indent="0" lvl="0" marL="0" rtl="0" algn="l">
              <a:spcBef>
                <a:spcPts val="0"/>
              </a:spcBef>
              <a:spcAft>
                <a:spcPts val="0"/>
              </a:spcAft>
              <a:buNone/>
            </a:pPr>
            <a:r>
              <a:rPr lang="en"/>
              <a:t>But today, what’s most useful? Let’s talk about hackathons</a:t>
            </a:r>
            <a:endParaRPr/>
          </a:p>
        </p:txBody>
      </p:sp>
      <p:sp>
        <p:nvSpPr>
          <p:cNvPr id="128" name="Google Shape;128;g3f0b1c41c0e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0b1c41c0e_2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g3f0b1c41c0e_2_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Grafana Labs runs five or six hackathons a year - four full week, full company ones, plus half-day hackathons at dept offsites. Our AI Assistant started as a hackathon project called Dash. Our whole AI Observability platform came out of one called Sigil. So we've watched a lot of hackathon projects live and die. There are patterns in the ones that win &amp; ship versus the ones that end when the demo does.</a:t>
            </a:r>
            <a:endParaRPr/>
          </a:p>
        </p:txBody>
      </p:sp>
      <p:sp>
        <p:nvSpPr>
          <p:cNvPr id="138" name="Google Shape;138;g3f0b1c41c0e_2_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0b1c41c0e_2_1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f0b1c41c0e_2_1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biggest pattern is even more impt now: it’s so fast to make new features &amp; demos; your actual users are maybe building </a:t>
            </a:r>
            <a:r>
              <a:rPr lang="en"/>
              <a:t>their</a:t>
            </a:r>
            <a:r>
              <a:rPr lang="en"/>
              <a:t> own thing, or have a million new choices they don’t trust.</a:t>
            </a:r>
            <a:endParaRPr/>
          </a:p>
          <a:p>
            <a:pPr indent="0" lvl="0" marL="0" rtl="0" algn="l">
              <a:spcBef>
                <a:spcPts val="0"/>
              </a:spcBef>
              <a:spcAft>
                <a:spcPts val="0"/>
              </a:spcAft>
              <a:buNone/>
            </a:pPr>
            <a:r>
              <a:rPr lang="en"/>
              <a:t>Great projects are paths, not destinations. Not 'look, this cool thing is now possible' - but three blanks you can fill in.</a:t>
            </a:r>
            <a:endParaRPr/>
          </a:p>
          <a:p>
            <a:pPr indent="0" lvl="0" marL="0" rtl="0" algn="l">
              <a:spcBef>
                <a:spcPts val="0"/>
              </a:spcBef>
              <a:spcAft>
                <a:spcPts val="0"/>
              </a:spcAft>
              <a:buNone/>
            </a:pPr>
            <a:r>
              <a:rPr lang="en"/>
              <a:t>It's immediately valuable because ___. It's safe to try because ___ - no 'first grant all this access, deploy all this stuff, then it's amazing.'</a:t>
            </a:r>
            <a:endParaRPr/>
          </a:p>
          <a:p>
            <a:pPr indent="0" lvl="0" marL="0" rtl="0" algn="l">
              <a:spcBef>
                <a:spcPts val="0"/>
              </a:spcBef>
              <a:spcAft>
                <a:spcPts val="0"/>
              </a:spcAft>
              <a:buNone/>
            </a:pPr>
            <a:r>
              <a:rPr lang="en"/>
              <a:t>And it gets better from there because blank. If you have no path, just a great landing point, you have a fun demo, not a winning project.</a:t>
            </a:r>
            <a:endParaRPr/>
          </a:p>
        </p:txBody>
      </p:sp>
      <p:sp>
        <p:nvSpPr>
          <p:cNvPr id="154" name="Google Shape;154;g3f0b1c41c0e_2_10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0b1c41c0e_2_1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g3f0b1c41c0e_2_1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 this hackathon, you have only a few minutes, so prepare what you’ll show &amp; say! Judges care about 3 things: It works. It's creative and novel. And it has real impact - for someone specific. [Segue] Creativity is yours - I can't help with that part. But the other two are loop problems, and those we know something about.</a:t>
            </a:r>
            <a:endParaRPr/>
          </a:p>
        </p:txBody>
      </p:sp>
      <p:sp>
        <p:nvSpPr>
          <p:cNvPr id="174" name="Google Shape;174;g3f0b1c41c0e_2_1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0b1c41c0e_2_1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f0b1c41c0e_2_1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you need this working by stopping time tomorrow, with a solid vision for real impact: both solved with good loops.</a:t>
            </a:r>
            <a:endParaRPr/>
          </a:p>
          <a:p>
            <a:pPr indent="0" lvl="0" marL="0" rtl="0" algn="l">
              <a:spcBef>
                <a:spcPts val="0"/>
              </a:spcBef>
              <a:spcAft>
                <a:spcPts val="0"/>
              </a:spcAft>
              <a:buNone/>
            </a:pPr>
            <a:r>
              <a:rPr lang="en"/>
              <a:t>Little loops get you a demo that works. Big loops make it matter. Same rule at every scale: know what done looks like, and be able to see it. Let's take them in order.</a:t>
            </a:r>
            <a:endParaRPr/>
          </a:p>
        </p:txBody>
      </p:sp>
      <p:sp>
        <p:nvSpPr>
          <p:cNvPr id="190" name="Google Shape;190;g3f0b1c41c0e_2_1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0b1c41c0e_2_1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g3f0b1c41c0e_2_1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Everyone here is building with coding agents. The single highest-leverage habit: for every task you hand an agent, define done. A test that passes. A log line that shows up. A Playwright run that actually clicks the button. Do that and your agents work in parallel while you and your teammates brainstorm the next user flow - you're designing the product, not babysitting the tools.</a:t>
            </a:r>
            <a:endParaRPr/>
          </a:p>
        </p:txBody>
      </p:sp>
      <p:sp>
        <p:nvSpPr>
          <p:cNvPr id="206" name="Google Shape;206;g3f0b1c41c0e_2_1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0b1c41c0e_2_1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g3f0b1c41c0e_2_1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a trace of a request flowing through services - the same view works for your agent runs. Half a day is enough to build something genuinely sophisticated - IF you can see what actually happened when something breaks. One log query filtered to errors answers 'is it done?' Logs and traces aren't ops overhead this weekend. They're your speed.</a:t>
            </a:r>
            <a:endParaRPr/>
          </a:p>
        </p:txBody>
      </p:sp>
      <p:sp>
        <p:nvSpPr>
          <p:cNvPr id="220" name="Google Shape;220;g3f0b1c41c0e_2_16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0b1c41c0e_2_1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g3f0b1c41c0e_2_1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Now the trap with building on AI: LLMs always returns something shaped like a good answer. You can't tell 80-percent-useful from great by looking - and your users definitely can't, because they don't know the right answer and can't verify it. 80% useful can mean 'wasted your afternoon.' The only defense is a feedback loop on the product itself: which outputs got used? Where did people bail? What did they retry?</a:t>
            </a:r>
            <a:endParaRPr/>
          </a:p>
        </p:txBody>
      </p:sp>
      <p:sp>
        <p:nvSpPr>
          <p:cNvPr id="232" name="Google Shape;232;g3f0b1c41c0e_2_17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0b1c41c0e_2_1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g3f0b1c41c0e_2_1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Zoom that loop out over time and it becomes your growth story. People show up for a reason. Using the product generates data. Data makes the product better. Better pulls in more people. That's the data flywheel - if this is part of your vision, that’s hugely valuable.</a:t>
            </a:r>
            <a:endParaRPr/>
          </a:p>
        </p:txBody>
      </p:sp>
      <p:sp>
        <p:nvSpPr>
          <p:cNvPr id="245" name="Google Shape;245;g3f0b1c41c0e_2_1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0b1c41c0e_2_2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g3f0b1c41c0e_2_2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But - a flywheel you can't see isn't a flywheel. It's a claim. Thinking after hackathon: it’s a nice </a:t>
            </a:r>
            <a:r>
              <a:rPr lang="en"/>
              <a:t>pitch deck with no proof.</a:t>
            </a:r>
            <a:endParaRPr/>
          </a:p>
        </p:txBody>
      </p:sp>
      <p:sp>
        <p:nvSpPr>
          <p:cNvPr id="261" name="Google Shape;261;g3f0b1c41c0e_2_20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0b1c41c0e_2_2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g3f0b1c41c0e_2_2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You get a few minutes to pitch tomorrow; </a:t>
            </a:r>
            <a:r>
              <a:rPr lang="en"/>
              <a:t>beyond</a:t>
            </a:r>
            <a:r>
              <a:rPr lang="en"/>
              <a:t> that, though – you’ll need evidence </a:t>
            </a:r>
            <a:r>
              <a:rPr lang="en"/>
              <a:t>for</a:t>
            </a:r>
            <a:r>
              <a:rPr lang="en"/>
              <a:t> these questions </a:t>
            </a:r>
            <a:r>
              <a:rPr lang="en"/>
              <a:t>beyond</a:t>
            </a:r>
            <a:r>
              <a:rPr lang="en"/>
              <a:t> “does the POC work?”. Whether you're in front of investors or your own leadership: a growth story with instrumentation behind it is proof. Without it, it's a pitch deck.</a:t>
            </a:r>
            <a:endParaRPr/>
          </a:p>
        </p:txBody>
      </p:sp>
      <p:sp>
        <p:nvSpPr>
          <p:cNvPr id="269" name="Google Shape;269;g3f0b1c41c0e_2_2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0b1c41c0e_2_2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g3f0b1c41c0e_2_2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are ideas we use internally, and also, we have your back.</a:t>
            </a:r>
            <a:endParaRPr/>
          </a:p>
          <a:p>
            <a:pPr indent="0" lvl="0" marL="0" rtl="0" algn="l">
              <a:spcBef>
                <a:spcPts val="0"/>
              </a:spcBef>
              <a:spcAft>
                <a:spcPts val="0"/>
              </a:spcAft>
              <a:buNone/>
            </a:pPr>
            <a:r>
              <a:rPr lang="en"/>
              <a:t>Grafana Cloud is free forever for small teams. And when you grow, the core is open source, so we don't lock you in. Wire it into your project in minutes, and everything I just described - agent traces, product feedback, flywheel metrics - is something you can stay on top of, not wonder about.</a:t>
            </a:r>
            <a:endParaRPr/>
          </a:p>
        </p:txBody>
      </p:sp>
      <p:sp>
        <p:nvSpPr>
          <p:cNvPr id="283" name="Google Shape;283;g3f0b1c41c0e_2_2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0b1c41c0e_2_2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g3f0b1c41c0e_2_2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My colleague Jo is running a workshop this afternoon and diving into details on how to use Grafana on the site, from your coding agents, everywhere. The QR code gets you Grafana Cloud. And I'm around all weekend as a mentor - come grab me. En francais aussi, si vous preferez. Build the path. Instrument the loop. Merci, bon courage, bonne chance!</a:t>
            </a:r>
            <a:endParaRPr/>
          </a:p>
        </p:txBody>
      </p:sp>
      <p:sp>
        <p:nvSpPr>
          <p:cNvPr id="298" name="Google Shape;298;g3f0b1c41c0e_2_2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dark_sticker_bg.png" id="130" name="Google Shape;130;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1" name="Google Shape;131;p25"/>
          <p:cNvSpPr txBox="1"/>
          <p:nvPr/>
        </p:nvSpPr>
        <p:spPr>
          <a:xfrm>
            <a:off x="1828800" y="658368"/>
            <a:ext cx="5486400" cy="3200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 sz="1200" u="none" cap="none" strike="noStrike">
                <a:solidFill>
                  <a:srgbClr val="B8B8B8"/>
                </a:solidFill>
                <a:latin typeface="Arial"/>
                <a:ea typeface="Arial"/>
                <a:cs typeface="Arial"/>
                <a:sym typeface="Arial"/>
              </a:rPr>
              <a:t>RAISE SUMMIT HACKATHON  ·  PARIS  ·  JULY 2026</a:t>
            </a:r>
            <a:endParaRPr/>
          </a:p>
        </p:txBody>
      </p:sp>
      <p:sp>
        <p:nvSpPr>
          <p:cNvPr id="132" name="Google Shape;132;p25"/>
          <p:cNvSpPr txBox="1"/>
          <p:nvPr/>
        </p:nvSpPr>
        <p:spPr>
          <a:xfrm>
            <a:off x="1371600" y="1828800"/>
            <a:ext cx="6400800" cy="7772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4200" u="none" cap="none" strike="noStrike">
                <a:solidFill>
                  <a:srgbClr val="FFFFFF"/>
                </a:solidFill>
                <a:latin typeface="Arial"/>
                <a:ea typeface="Arial"/>
                <a:cs typeface="Arial"/>
                <a:sym typeface="Arial"/>
              </a:rPr>
              <a:t>Paths, not destinations</a:t>
            </a:r>
            <a:endParaRPr/>
          </a:p>
        </p:txBody>
      </p:sp>
      <p:sp>
        <p:nvSpPr>
          <p:cNvPr id="133" name="Google Shape;133;p25"/>
          <p:cNvSpPr txBox="1"/>
          <p:nvPr/>
        </p:nvSpPr>
        <p:spPr>
          <a:xfrm>
            <a:off x="1828800" y="2697480"/>
            <a:ext cx="5486400"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 sz="1700" u="none" cap="none" strike="noStrike">
                <a:solidFill>
                  <a:srgbClr val="FEE9D4"/>
                </a:solidFill>
                <a:latin typeface="Arial"/>
                <a:ea typeface="Arial"/>
                <a:cs typeface="Arial"/>
                <a:sym typeface="Arial"/>
              </a:rPr>
              <a:t>how winning hackathon teams think</a:t>
            </a:r>
            <a:endParaRPr/>
          </a:p>
        </p:txBody>
      </p:sp>
      <p:sp>
        <p:nvSpPr>
          <p:cNvPr id="134" name="Google Shape;134;p25"/>
          <p:cNvSpPr txBox="1"/>
          <p:nvPr/>
        </p:nvSpPr>
        <p:spPr>
          <a:xfrm>
            <a:off x="1828800" y="3703320"/>
            <a:ext cx="54864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400" u="none" cap="none" strike="noStrike">
                <a:solidFill>
                  <a:srgbClr val="FFFFFF"/>
                </a:solidFill>
                <a:latin typeface="Arial"/>
                <a:ea typeface="Arial"/>
                <a:cs typeface="Arial"/>
                <a:sym typeface="Arial"/>
              </a:rPr>
              <a:t>Rob Whelan</a:t>
            </a:r>
            <a:r>
              <a:rPr b="0" i="0" lang="en" sz="1400" u="none" cap="none" strike="noStrike">
                <a:solidFill>
                  <a:srgbClr val="B8B8B8"/>
                </a:solidFill>
                <a:latin typeface="Arial"/>
                <a:ea typeface="Arial"/>
                <a:cs typeface="Arial"/>
                <a:sym typeface="Arial"/>
              </a:rPr>
              <a:t>   ·   Sr. Eng Mgr, Grafana Labs, 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26"/>
          <p:cNvSpPr txBox="1"/>
          <p:nvPr/>
        </p:nvSpPr>
        <p:spPr>
          <a:xfrm>
            <a:off x="548640" y="411480"/>
            <a:ext cx="80467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3400" u="none" cap="none" strike="noStrike">
                <a:solidFill>
                  <a:srgbClr val="0D0D0D"/>
                </a:solidFill>
                <a:latin typeface="Arial"/>
                <a:ea typeface="Arial"/>
                <a:cs typeface="Arial"/>
                <a:sym typeface="Arial"/>
              </a:rPr>
              <a:t>We hack, a lot</a:t>
            </a:r>
            <a:endParaRPr/>
          </a:p>
        </p:txBody>
      </p:sp>
      <p:sp>
        <p:nvSpPr>
          <p:cNvPr id="141" name="Google Shape;141;p26"/>
          <p:cNvSpPr txBox="1"/>
          <p:nvPr/>
        </p:nvSpPr>
        <p:spPr>
          <a:xfrm>
            <a:off x="548640" y="1325880"/>
            <a:ext cx="329184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9200" u="none" cap="none" strike="noStrike">
                <a:solidFill>
                  <a:srgbClr val="FF671D"/>
                </a:solidFill>
                <a:latin typeface="Arial"/>
                <a:ea typeface="Arial"/>
                <a:cs typeface="Arial"/>
                <a:sym typeface="Arial"/>
              </a:rPr>
              <a:t>5–6</a:t>
            </a:r>
            <a:endParaRPr/>
          </a:p>
        </p:txBody>
      </p:sp>
      <p:sp>
        <p:nvSpPr>
          <p:cNvPr id="142" name="Google Shape;142;p26"/>
          <p:cNvSpPr txBox="1"/>
          <p:nvPr/>
        </p:nvSpPr>
        <p:spPr>
          <a:xfrm>
            <a:off x="594360" y="2788920"/>
            <a:ext cx="35661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D0D0D"/>
                </a:solidFill>
                <a:latin typeface="Arial"/>
                <a:ea typeface="Arial"/>
                <a:cs typeface="Arial"/>
                <a:sym typeface="Arial"/>
              </a:rPr>
              <a:t>hackathons a year, every year</a:t>
            </a:r>
            <a:endParaRPr/>
          </a:p>
        </p:txBody>
      </p:sp>
      <p:sp>
        <p:nvSpPr>
          <p:cNvPr id="143" name="Google Shape;143;p26"/>
          <p:cNvSpPr txBox="1"/>
          <p:nvPr/>
        </p:nvSpPr>
        <p:spPr>
          <a:xfrm>
            <a:off x="594360" y="3200400"/>
            <a:ext cx="3566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4A4A4A"/>
                </a:solidFill>
                <a:latin typeface="Arial"/>
                <a:ea typeface="Arial"/>
                <a:cs typeface="Arial"/>
                <a:sym typeface="Arial"/>
              </a:rPr>
              <a:t>four full weeks + offsite </a:t>
            </a:r>
            <a:r>
              <a:rPr lang="en" sz="1300">
                <a:solidFill>
                  <a:srgbClr val="4A4A4A"/>
                </a:solidFill>
              </a:rPr>
              <a:t>mini-hackathons</a:t>
            </a:r>
            <a:endParaRPr/>
          </a:p>
        </p:txBody>
      </p:sp>
      <p:sp>
        <p:nvSpPr>
          <p:cNvPr id="144" name="Google Shape;144;p26"/>
          <p:cNvSpPr/>
          <p:nvPr/>
        </p:nvSpPr>
        <p:spPr>
          <a:xfrm>
            <a:off x="4572000" y="1325880"/>
            <a:ext cx="4023360" cy="1234440"/>
          </a:xfrm>
          <a:prstGeom prst="roundRect">
            <a:avLst>
              <a:gd fmla="val 6000" name="adj"/>
            </a:avLst>
          </a:prstGeom>
          <a:solidFill>
            <a:srgbClr val="FEE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26"/>
          <p:cNvSpPr txBox="1"/>
          <p:nvPr/>
        </p:nvSpPr>
        <p:spPr>
          <a:xfrm>
            <a:off x="4846320" y="1554480"/>
            <a:ext cx="35661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900" u="none" cap="none" strike="noStrike">
                <a:solidFill>
                  <a:srgbClr val="0D0D0D"/>
                </a:solidFill>
                <a:latin typeface="Arial"/>
                <a:ea typeface="Arial"/>
                <a:cs typeface="Arial"/>
                <a:sym typeface="Arial"/>
              </a:rPr>
              <a:t>Grafana Assistant</a:t>
            </a:r>
            <a:endParaRPr/>
          </a:p>
        </p:txBody>
      </p:sp>
      <p:sp>
        <p:nvSpPr>
          <p:cNvPr id="146" name="Google Shape;146;p26"/>
          <p:cNvSpPr txBox="1"/>
          <p:nvPr/>
        </p:nvSpPr>
        <p:spPr>
          <a:xfrm>
            <a:off x="4846320" y="1965960"/>
            <a:ext cx="3566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4A4A4A"/>
                </a:solidFill>
                <a:latin typeface="Arial"/>
                <a:ea typeface="Arial"/>
                <a:cs typeface="Arial"/>
                <a:sym typeface="Arial"/>
              </a:rPr>
              <a:t>born in a hackathon — project “Dash”</a:t>
            </a:r>
            <a:endParaRPr/>
          </a:p>
        </p:txBody>
      </p:sp>
      <p:sp>
        <p:nvSpPr>
          <p:cNvPr id="147" name="Google Shape;147;p26"/>
          <p:cNvSpPr/>
          <p:nvPr/>
        </p:nvSpPr>
        <p:spPr>
          <a:xfrm>
            <a:off x="4572000" y="2743200"/>
            <a:ext cx="4023360" cy="1234440"/>
          </a:xfrm>
          <a:prstGeom prst="roundRect">
            <a:avLst>
              <a:gd fmla="val 6000" name="adj"/>
            </a:avLst>
          </a:prstGeom>
          <a:solidFill>
            <a:srgbClr val="D9E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26"/>
          <p:cNvSpPr txBox="1"/>
          <p:nvPr/>
        </p:nvSpPr>
        <p:spPr>
          <a:xfrm>
            <a:off x="4846320" y="2971800"/>
            <a:ext cx="356616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900" u="none" cap="none" strike="noStrike">
                <a:solidFill>
                  <a:srgbClr val="0D0D0D"/>
                </a:solidFill>
                <a:latin typeface="Arial"/>
                <a:ea typeface="Arial"/>
                <a:cs typeface="Arial"/>
                <a:sym typeface="Arial"/>
              </a:rPr>
              <a:t>Grafana AI Observability</a:t>
            </a:r>
            <a:endParaRPr/>
          </a:p>
        </p:txBody>
      </p:sp>
      <p:sp>
        <p:nvSpPr>
          <p:cNvPr id="149" name="Google Shape;149;p26"/>
          <p:cNvSpPr txBox="1"/>
          <p:nvPr/>
        </p:nvSpPr>
        <p:spPr>
          <a:xfrm>
            <a:off x="4846320" y="3383280"/>
            <a:ext cx="3566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4A4A4A"/>
                </a:solidFill>
                <a:latin typeface="Arial"/>
                <a:ea typeface="Arial"/>
                <a:cs typeface="Arial"/>
                <a:sym typeface="Arial"/>
              </a:rPr>
              <a:t>born in a hackathon — project “Sigil”</a:t>
            </a:r>
            <a:endParaRPr/>
          </a:p>
        </p:txBody>
      </p:sp>
      <p:sp>
        <p:nvSpPr>
          <p:cNvPr id="150" name="Google Shape;150;p26"/>
          <p:cNvSpPr txBox="1"/>
          <p:nvPr/>
        </p:nvSpPr>
        <p:spPr>
          <a:xfrm>
            <a:off x="548640" y="4434840"/>
            <a:ext cx="8046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 sz="1500" u="none" cap="none" strike="noStrike">
                <a:solidFill>
                  <a:srgbClr val="4A4A4A"/>
                </a:solidFill>
                <a:latin typeface="Arial"/>
                <a:ea typeface="Arial"/>
                <a:cs typeface="Arial"/>
                <a:sym typeface="Arial"/>
              </a:rPr>
              <a:t>We’ve watched a lot of hackathon projects live and die. There</a:t>
            </a:r>
            <a:r>
              <a:rPr i="1" lang="en" sz="1500">
                <a:solidFill>
                  <a:srgbClr val="4A4A4A"/>
                </a:solidFill>
              </a:rPr>
              <a:t> are patterns</a:t>
            </a:r>
            <a:r>
              <a:rPr b="0" i="1" lang="en" sz="1500" u="none" cap="none" strike="noStrike">
                <a:solidFill>
                  <a:srgbClr val="4A4A4A"/>
                </a:solidFill>
                <a:latin typeface="Arial"/>
                <a:ea typeface="Arial"/>
                <a:cs typeface="Arial"/>
                <a:sym typeface="Arial"/>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27"/>
          <p:cNvSpPr txBox="1"/>
          <p:nvPr/>
        </p:nvSpPr>
        <p:spPr>
          <a:xfrm>
            <a:off x="548640" y="457200"/>
            <a:ext cx="822960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700" u="none" cap="none" strike="noStrike">
                <a:solidFill>
                  <a:srgbClr val="0D0D0D"/>
                </a:solidFill>
                <a:latin typeface="Arial"/>
                <a:ea typeface="Arial"/>
                <a:cs typeface="Arial"/>
                <a:sym typeface="Arial"/>
              </a:rPr>
              <a:t>Great projects are </a:t>
            </a:r>
            <a:r>
              <a:rPr b="1" i="0" lang="en" sz="2700" u="none" cap="none" strike="noStrike">
                <a:solidFill>
                  <a:srgbClr val="FF671D"/>
                </a:solidFill>
                <a:latin typeface="Arial"/>
                <a:ea typeface="Arial"/>
                <a:cs typeface="Arial"/>
                <a:sym typeface="Arial"/>
              </a:rPr>
              <a:t>paths</a:t>
            </a:r>
            <a:r>
              <a:rPr b="1" i="0" lang="en" sz="2700" u="none" cap="none" strike="noStrike">
                <a:solidFill>
                  <a:srgbClr val="0D0D0D"/>
                </a:solidFill>
                <a:latin typeface="Arial"/>
                <a:ea typeface="Arial"/>
                <a:cs typeface="Arial"/>
                <a:sym typeface="Arial"/>
              </a:rPr>
              <a:t>, not destinations.</a:t>
            </a:r>
            <a:endParaRPr/>
          </a:p>
        </p:txBody>
      </p:sp>
      <p:sp>
        <p:nvSpPr>
          <p:cNvPr id="157" name="Google Shape;157;p27"/>
          <p:cNvSpPr txBox="1"/>
          <p:nvPr/>
        </p:nvSpPr>
        <p:spPr>
          <a:xfrm>
            <a:off x="548640" y="1234440"/>
            <a:ext cx="804672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500" u="none" cap="none" strike="noStrike">
                <a:solidFill>
                  <a:srgbClr val="4A4A4A"/>
                </a:solidFill>
                <a:latin typeface="Arial"/>
                <a:ea typeface="Arial"/>
                <a:cs typeface="Arial"/>
                <a:sym typeface="Arial"/>
              </a:rPr>
              <a:t>Three blanks every winning team can fill in:</a:t>
            </a:r>
            <a:endParaRPr/>
          </a:p>
        </p:txBody>
      </p:sp>
      <p:sp>
        <p:nvSpPr>
          <p:cNvPr id="158" name="Google Shape;158;p27"/>
          <p:cNvSpPr/>
          <p:nvPr/>
        </p:nvSpPr>
        <p:spPr>
          <a:xfrm>
            <a:off x="548640" y="1783080"/>
            <a:ext cx="2615184" cy="2057400"/>
          </a:xfrm>
          <a:prstGeom prst="roundRect">
            <a:avLst>
              <a:gd fmla="val 6000" name="adj"/>
            </a:avLst>
          </a:prstGeom>
          <a:solidFill>
            <a:srgbClr val="FEE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27"/>
          <p:cNvSpPr txBox="1"/>
          <p:nvPr/>
        </p:nvSpPr>
        <p:spPr>
          <a:xfrm>
            <a:off x="777240" y="2011680"/>
            <a:ext cx="219456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D0D0D"/>
                </a:solidFill>
                <a:latin typeface="Arial"/>
                <a:ea typeface="Arial"/>
                <a:cs typeface="Arial"/>
                <a:sym typeface="Arial"/>
              </a:rPr>
              <a:t>Immediately valuable</a:t>
            </a:r>
            <a:endParaRPr/>
          </a:p>
        </p:txBody>
      </p:sp>
      <p:sp>
        <p:nvSpPr>
          <p:cNvPr id="160" name="Google Shape;160;p27"/>
          <p:cNvSpPr txBox="1"/>
          <p:nvPr/>
        </p:nvSpPr>
        <p:spPr>
          <a:xfrm>
            <a:off x="777240" y="2697480"/>
            <a:ext cx="2194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 sz="1900" u="none" cap="none" strike="noStrike">
                <a:solidFill>
                  <a:srgbClr val="0D0D0D"/>
                </a:solidFill>
                <a:latin typeface="Arial"/>
                <a:ea typeface="Arial"/>
                <a:cs typeface="Arial"/>
                <a:sym typeface="Arial"/>
              </a:rPr>
              <a:t>because ______</a:t>
            </a:r>
            <a:endParaRPr/>
          </a:p>
        </p:txBody>
      </p:sp>
      <p:sp>
        <p:nvSpPr>
          <p:cNvPr id="161" name="Google Shape;161;p27"/>
          <p:cNvSpPr txBox="1"/>
          <p:nvPr/>
        </p:nvSpPr>
        <p:spPr>
          <a:xfrm>
            <a:off x="777240" y="3200400"/>
            <a:ext cx="21945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50" u="none" cap="none" strike="noStrike">
                <a:solidFill>
                  <a:srgbClr val="4A4A4A"/>
                </a:solidFill>
                <a:latin typeface="Arial"/>
                <a:ea typeface="Arial"/>
                <a:cs typeface="Arial"/>
                <a:sym typeface="Arial"/>
              </a:rPr>
              <a:t>value on the first touch</a:t>
            </a:r>
            <a:r>
              <a:rPr lang="en" sz="1150">
                <a:solidFill>
                  <a:srgbClr val="4A4A4A"/>
                </a:solidFill>
              </a:rPr>
              <a:t> if at all possible</a:t>
            </a:r>
            <a:endParaRPr/>
          </a:p>
        </p:txBody>
      </p:sp>
      <p:sp>
        <p:nvSpPr>
          <p:cNvPr id="162" name="Google Shape;162;p27"/>
          <p:cNvSpPr/>
          <p:nvPr/>
        </p:nvSpPr>
        <p:spPr>
          <a:xfrm>
            <a:off x="3264408" y="1783080"/>
            <a:ext cx="2615184" cy="2057400"/>
          </a:xfrm>
          <a:prstGeom prst="roundRect">
            <a:avLst>
              <a:gd fmla="val 6000" name="adj"/>
            </a:avLst>
          </a:prstGeom>
          <a:solidFill>
            <a:srgbClr val="D9E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27"/>
          <p:cNvSpPr txBox="1"/>
          <p:nvPr/>
        </p:nvSpPr>
        <p:spPr>
          <a:xfrm>
            <a:off x="3493008" y="2011680"/>
            <a:ext cx="219456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D0D0D"/>
                </a:solidFill>
                <a:latin typeface="Arial"/>
                <a:ea typeface="Arial"/>
                <a:cs typeface="Arial"/>
                <a:sym typeface="Arial"/>
              </a:rPr>
              <a:t>Safe to try</a:t>
            </a:r>
            <a:endParaRPr/>
          </a:p>
        </p:txBody>
      </p:sp>
      <p:sp>
        <p:nvSpPr>
          <p:cNvPr id="164" name="Google Shape;164;p27"/>
          <p:cNvSpPr txBox="1"/>
          <p:nvPr/>
        </p:nvSpPr>
        <p:spPr>
          <a:xfrm>
            <a:off x="3493008" y="2697480"/>
            <a:ext cx="2194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 sz="1900" u="none" cap="none" strike="noStrike">
                <a:solidFill>
                  <a:srgbClr val="0D0D0D"/>
                </a:solidFill>
                <a:latin typeface="Arial"/>
                <a:ea typeface="Arial"/>
                <a:cs typeface="Arial"/>
                <a:sym typeface="Arial"/>
              </a:rPr>
              <a:t>because ______</a:t>
            </a:r>
            <a:endParaRPr/>
          </a:p>
        </p:txBody>
      </p:sp>
      <p:sp>
        <p:nvSpPr>
          <p:cNvPr id="165" name="Google Shape;165;p27"/>
          <p:cNvSpPr txBox="1"/>
          <p:nvPr/>
        </p:nvSpPr>
        <p:spPr>
          <a:xfrm>
            <a:off x="3493008" y="3200400"/>
            <a:ext cx="21945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50" u="none" cap="none" strike="noStrike">
                <a:solidFill>
                  <a:srgbClr val="4A4A4A"/>
                </a:solidFill>
                <a:latin typeface="Arial"/>
                <a:ea typeface="Arial"/>
                <a:cs typeface="Arial"/>
                <a:sym typeface="Arial"/>
              </a:rPr>
              <a:t>no “first, grant us all this access and deploy all this stuff”</a:t>
            </a:r>
            <a:endParaRPr/>
          </a:p>
        </p:txBody>
      </p:sp>
      <p:sp>
        <p:nvSpPr>
          <p:cNvPr id="166" name="Google Shape;166;p27"/>
          <p:cNvSpPr/>
          <p:nvPr/>
        </p:nvSpPr>
        <p:spPr>
          <a:xfrm>
            <a:off x="5980176" y="1783080"/>
            <a:ext cx="2615184" cy="2057400"/>
          </a:xfrm>
          <a:prstGeom prst="roundRect">
            <a:avLst>
              <a:gd fmla="val 6000" name="adj"/>
            </a:avLst>
          </a:prstGeom>
          <a:solidFill>
            <a:srgbClr val="E3F5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27"/>
          <p:cNvSpPr txBox="1"/>
          <p:nvPr/>
        </p:nvSpPr>
        <p:spPr>
          <a:xfrm>
            <a:off x="6208776" y="2011680"/>
            <a:ext cx="219456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D0D0D"/>
                </a:solidFill>
                <a:latin typeface="Arial"/>
                <a:ea typeface="Arial"/>
                <a:cs typeface="Arial"/>
                <a:sym typeface="Arial"/>
              </a:rPr>
              <a:t>Better next week</a:t>
            </a:r>
            <a:endParaRPr/>
          </a:p>
        </p:txBody>
      </p:sp>
      <p:sp>
        <p:nvSpPr>
          <p:cNvPr id="168" name="Google Shape;168;p27"/>
          <p:cNvSpPr txBox="1"/>
          <p:nvPr/>
        </p:nvSpPr>
        <p:spPr>
          <a:xfrm>
            <a:off x="6208776" y="2697480"/>
            <a:ext cx="2194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 sz="1900" u="none" cap="none" strike="noStrike">
                <a:solidFill>
                  <a:srgbClr val="0D0D0D"/>
                </a:solidFill>
                <a:latin typeface="Arial"/>
                <a:ea typeface="Arial"/>
                <a:cs typeface="Arial"/>
                <a:sym typeface="Arial"/>
              </a:rPr>
              <a:t>because ______</a:t>
            </a:r>
            <a:endParaRPr/>
          </a:p>
        </p:txBody>
      </p:sp>
      <p:sp>
        <p:nvSpPr>
          <p:cNvPr id="169" name="Google Shape;169;p27"/>
          <p:cNvSpPr txBox="1"/>
          <p:nvPr/>
        </p:nvSpPr>
        <p:spPr>
          <a:xfrm>
            <a:off x="6208776" y="3200400"/>
            <a:ext cx="219456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50" u="none" cap="none" strike="noStrike">
                <a:solidFill>
                  <a:srgbClr val="4A4A4A"/>
                </a:solidFill>
                <a:latin typeface="Arial"/>
                <a:ea typeface="Arial"/>
                <a:cs typeface="Arial"/>
                <a:sym typeface="Arial"/>
              </a:rPr>
              <a:t>what compounds as people use it?</a:t>
            </a:r>
            <a:endParaRPr/>
          </a:p>
        </p:txBody>
      </p:sp>
      <p:sp>
        <p:nvSpPr>
          <p:cNvPr id="170" name="Google Shape;170;p27"/>
          <p:cNvSpPr txBox="1"/>
          <p:nvPr/>
        </p:nvSpPr>
        <p:spPr>
          <a:xfrm>
            <a:off x="548640" y="4297680"/>
            <a:ext cx="804672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D0D0D"/>
                </a:solidFill>
                <a:latin typeface="Arial"/>
                <a:ea typeface="Arial"/>
                <a:cs typeface="Arial"/>
                <a:sym typeface="Arial"/>
              </a:rPr>
              <a:t>Fill in all three: you have a project.  </a:t>
            </a:r>
            <a:r>
              <a:rPr b="0" i="0" lang="en" sz="1600" u="none" cap="none" strike="noStrike">
                <a:solidFill>
                  <a:srgbClr val="4A4A4A"/>
                </a:solidFill>
                <a:latin typeface="Arial"/>
                <a:ea typeface="Arial"/>
                <a:cs typeface="Arial"/>
                <a:sym typeface="Arial"/>
              </a:rPr>
              <a:t>Fill in one: you have a demo.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28"/>
          <p:cNvSpPr txBox="1"/>
          <p:nvPr/>
        </p:nvSpPr>
        <p:spPr>
          <a:xfrm>
            <a:off x="548640" y="411480"/>
            <a:ext cx="80467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3400" u="none" cap="none" strike="noStrike">
                <a:solidFill>
                  <a:srgbClr val="0D0D0D"/>
                </a:solidFill>
                <a:latin typeface="Arial"/>
                <a:ea typeface="Arial"/>
                <a:cs typeface="Arial"/>
                <a:sym typeface="Arial"/>
              </a:rPr>
              <a:t>What judges reward</a:t>
            </a:r>
            <a:endParaRPr/>
          </a:p>
        </p:txBody>
      </p:sp>
      <p:sp>
        <p:nvSpPr>
          <p:cNvPr id="177" name="Google Shape;177;p28"/>
          <p:cNvSpPr txBox="1"/>
          <p:nvPr/>
        </p:nvSpPr>
        <p:spPr>
          <a:xfrm>
            <a:off x="640080" y="1325880"/>
            <a:ext cx="64008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4000" u="none" cap="none" strike="noStrike">
                <a:solidFill>
                  <a:srgbClr val="FF671D"/>
                </a:solidFill>
                <a:latin typeface="Arial"/>
                <a:ea typeface="Arial"/>
                <a:cs typeface="Arial"/>
                <a:sym typeface="Arial"/>
              </a:rPr>
              <a:t>1</a:t>
            </a:r>
            <a:endParaRPr/>
          </a:p>
        </p:txBody>
      </p:sp>
      <p:sp>
        <p:nvSpPr>
          <p:cNvPr id="178" name="Google Shape;178;p28"/>
          <p:cNvSpPr txBox="1"/>
          <p:nvPr/>
        </p:nvSpPr>
        <p:spPr>
          <a:xfrm>
            <a:off x="1463040" y="1371600"/>
            <a:ext cx="356616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D0D0D"/>
                </a:solidFill>
                <a:latin typeface="Arial"/>
                <a:ea typeface="Arial"/>
                <a:cs typeface="Arial"/>
                <a:sym typeface="Arial"/>
              </a:rPr>
              <a:t>It works.</a:t>
            </a:r>
            <a:endParaRPr/>
          </a:p>
        </p:txBody>
      </p:sp>
      <p:sp>
        <p:nvSpPr>
          <p:cNvPr id="179" name="Google Shape;179;p28"/>
          <p:cNvSpPr txBox="1"/>
          <p:nvPr/>
        </p:nvSpPr>
        <p:spPr>
          <a:xfrm>
            <a:off x="5120640" y="1481328"/>
            <a:ext cx="356616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400" u="none" cap="none" strike="noStrike">
                <a:solidFill>
                  <a:srgbClr val="4A4A4A"/>
                </a:solidFill>
                <a:latin typeface="Arial"/>
                <a:ea typeface="Arial"/>
                <a:cs typeface="Arial"/>
                <a:sym typeface="Arial"/>
              </a:rPr>
              <a:t>a live demo beats any story</a:t>
            </a:r>
            <a:endParaRPr/>
          </a:p>
        </p:txBody>
      </p:sp>
      <p:sp>
        <p:nvSpPr>
          <p:cNvPr id="180" name="Google Shape;180;p28"/>
          <p:cNvSpPr txBox="1"/>
          <p:nvPr/>
        </p:nvSpPr>
        <p:spPr>
          <a:xfrm>
            <a:off x="640080" y="2194560"/>
            <a:ext cx="64008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4000" u="none" cap="none" strike="noStrike">
                <a:solidFill>
                  <a:srgbClr val="FF671D"/>
                </a:solidFill>
                <a:latin typeface="Arial"/>
                <a:ea typeface="Arial"/>
                <a:cs typeface="Arial"/>
                <a:sym typeface="Arial"/>
              </a:rPr>
              <a:t>2</a:t>
            </a:r>
            <a:endParaRPr/>
          </a:p>
        </p:txBody>
      </p:sp>
      <p:sp>
        <p:nvSpPr>
          <p:cNvPr id="181" name="Google Shape;181;p28"/>
          <p:cNvSpPr txBox="1"/>
          <p:nvPr/>
        </p:nvSpPr>
        <p:spPr>
          <a:xfrm>
            <a:off x="1463040" y="2240279"/>
            <a:ext cx="356616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D0D0D"/>
                </a:solidFill>
                <a:latin typeface="Arial"/>
                <a:ea typeface="Arial"/>
                <a:cs typeface="Arial"/>
                <a:sym typeface="Arial"/>
              </a:rPr>
              <a:t>It’s creative.</a:t>
            </a:r>
            <a:endParaRPr/>
          </a:p>
        </p:txBody>
      </p:sp>
      <p:sp>
        <p:nvSpPr>
          <p:cNvPr id="182" name="Google Shape;182;p28"/>
          <p:cNvSpPr txBox="1"/>
          <p:nvPr/>
        </p:nvSpPr>
        <p:spPr>
          <a:xfrm>
            <a:off x="5120640" y="2350008"/>
            <a:ext cx="356616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400" u="none" cap="none" strike="noStrike">
                <a:solidFill>
                  <a:srgbClr val="4A4A4A"/>
                </a:solidFill>
                <a:latin typeface="Arial"/>
                <a:ea typeface="Arial"/>
                <a:cs typeface="Arial"/>
                <a:sym typeface="Arial"/>
              </a:rPr>
              <a:t>interesting enough to remember tomorrow</a:t>
            </a:r>
            <a:endParaRPr/>
          </a:p>
        </p:txBody>
      </p:sp>
      <p:sp>
        <p:nvSpPr>
          <p:cNvPr id="183" name="Google Shape;183;p28"/>
          <p:cNvSpPr txBox="1"/>
          <p:nvPr/>
        </p:nvSpPr>
        <p:spPr>
          <a:xfrm>
            <a:off x="640080" y="3063239"/>
            <a:ext cx="64008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4000" u="none" cap="none" strike="noStrike">
                <a:solidFill>
                  <a:srgbClr val="FF671D"/>
                </a:solidFill>
                <a:latin typeface="Arial"/>
                <a:ea typeface="Arial"/>
                <a:cs typeface="Arial"/>
                <a:sym typeface="Arial"/>
              </a:rPr>
              <a:t>3</a:t>
            </a:r>
            <a:endParaRPr/>
          </a:p>
        </p:txBody>
      </p:sp>
      <p:sp>
        <p:nvSpPr>
          <p:cNvPr id="184" name="Google Shape;184;p28"/>
          <p:cNvSpPr txBox="1"/>
          <p:nvPr/>
        </p:nvSpPr>
        <p:spPr>
          <a:xfrm>
            <a:off x="1463040" y="3108959"/>
            <a:ext cx="356616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D0D0D"/>
                </a:solidFill>
                <a:latin typeface="Arial"/>
                <a:ea typeface="Arial"/>
                <a:cs typeface="Arial"/>
                <a:sym typeface="Arial"/>
              </a:rPr>
              <a:t>It has real impact.</a:t>
            </a:r>
            <a:endParaRPr/>
          </a:p>
        </p:txBody>
      </p:sp>
      <p:sp>
        <p:nvSpPr>
          <p:cNvPr id="185" name="Google Shape;185;p28"/>
          <p:cNvSpPr txBox="1"/>
          <p:nvPr/>
        </p:nvSpPr>
        <p:spPr>
          <a:xfrm>
            <a:off x="5120640" y="3218687"/>
            <a:ext cx="35661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400" u="none" cap="none" strike="noStrike">
                <a:solidFill>
                  <a:srgbClr val="4A4A4A"/>
                </a:solidFill>
                <a:latin typeface="Arial"/>
                <a:ea typeface="Arial"/>
                <a:cs typeface="Arial"/>
                <a:sym typeface="Arial"/>
              </a:rPr>
              <a:t>for someone specific</a:t>
            </a:r>
            <a:r>
              <a:rPr lang="en">
                <a:solidFill>
                  <a:srgbClr val="4A4A4A"/>
                </a:solidFill>
              </a:rPr>
              <a:t>, not “anyone could use this to do something”</a:t>
            </a:r>
            <a:endParaRPr/>
          </a:p>
        </p:txBody>
      </p:sp>
      <p:sp>
        <p:nvSpPr>
          <p:cNvPr id="186" name="Google Shape;186;p28"/>
          <p:cNvSpPr txBox="1"/>
          <p:nvPr/>
        </p:nvSpPr>
        <p:spPr>
          <a:xfrm>
            <a:off x="548640" y="4206240"/>
            <a:ext cx="8046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500">
                <a:solidFill>
                  <a:srgbClr val="0D0D0D"/>
                </a:solidFill>
              </a:rPr>
              <a:t>A few minutes go very fast.</a:t>
            </a:r>
            <a:r>
              <a:rPr lang="en" sz="1500">
                <a:solidFill>
                  <a:srgbClr val="0D0D0D"/>
                </a:solidFill>
              </a:rPr>
              <a:t> Save some hacking time to prepare your pitch.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29"/>
          <p:cNvSpPr txBox="1"/>
          <p:nvPr/>
        </p:nvSpPr>
        <p:spPr>
          <a:xfrm>
            <a:off x="548640" y="411480"/>
            <a:ext cx="8046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200">
                <a:solidFill>
                  <a:srgbClr val="0D0D0D"/>
                </a:solidFill>
              </a:rPr>
              <a:t>Pay </a:t>
            </a:r>
            <a:r>
              <a:rPr b="1" lang="en" sz="3200">
                <a:solidFill>
                  <a:srgbClr val="0D0D0D"/>
                </a:solidFill>
              </a:rPr>
              <a:t>attention</a:t>
            </a:r>
            <a:r>
              <a:rPr b="1" lang="en" sz="3200">
                <a:solidFill>
                  <a:srgbClr val="0D0D0D"/>
                </a:solidFill>
              </a:rPr>
              <a:t> to your loops!</a:t>
            </a:r>
            <a:endParaRPr/>
          </a:p>
        </p:txBody>
      </p:sp>
      <p:sp>
        <p:nvSpPr>
          <p:cNvPr id="193" name="Google Shape;193;p29"/>
          <p:cNvSpPr/>
          <p:nvPr/>
        </p:nvSpPr>
        <p:spPr>
          <a:xfrm>
            <a:off x="640080" y="1280160"/>
            <a:ext cx="5029200" cy="3200400"/>
          </a:xfrm>
          <a:prstGeom prst="roundRect">
            <a:avLst>
              <a:gd fmla="val 5000" name="adj"/>
            </a:avLst>
          </a:prstGeom>
          <a:noFill/>
          <a:ln cap="flat" cmpd="sng" w="22225">
            <a:solidFill>
              <a:srgbClr val="17B2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9"/>
          <p:cNvSpPr txBox="1"/>
          <p:nvPr/>
        </p:nvSpPr>
        <p:spPr>
          <a:xfrm>
            <a:off x="914400" y="1444752"/>
            <a:ext cx="44805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17B26A"/>
                </a:solidFill>
                <a:latin typeface="Arial"/>
                <a:ea typeface="Arial"/>
                <a:cs typeface="Arial"/>
                <a:sym typeface="Arial"/>
              </a:rPr>
              <a:t>THE FLYWHEEL</a:t>
            </a:r>
            <a:r>
              <a:rPr b="0" i="0" lang="en" sz="1200" u="none" cap="none" strike="noStrike">
                <a:solidFill>
                  <a:srgbClr val="4A4A4A"/>
                </a:solidFill>
                <a:latin typeface="Arial"/>
                <a:ea typeface="Arial"/>
                <a:cs typeface="Arial"/>
                <a:sym typeface="Arial"/>
              </a:rPr>
              <a:t>  — growth over time, in your vision</a:t>
            </a:r>
            <a:endParaRPr/>
          </a:p>
        </p:txBody>
      </p:sp>
      <p:sp>
        <p:nvSpPr>
          <p:cNvPr id="195" name="Google Shape;195;p29"/>
          <p:cNvSpPr/>
          <p:nvPr/>
        </p:nvSpPr>
        <p:spPr>
          <a:xfrm>
            <a:off x="914400" y="1874519"/>
            <a:ext cx="4480560" cy="2331720"/>
          </a:xfrm>
          <a:prstGeom prst="roundRect">
            <a:avLst>
              <a:gd fmla="val 6000" name="adj"/>
            </a:avLst>
          </a:prstGeom>
          <a:noFill/>
          <a:ln cap="flat" cmpd="sng" w="22225">
            <a:solidFill>
              <a:srgbClr val="297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9"/>
          <p:cNvSpPr txBox="1"/>
          <p:nvPr/>
        </p:nvSpPr>
        <p:spPr>
          <a:xfrm>
            <a:off x="1188720" y="2039112"/>
            <a:ext cx="39319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2970FF"/>
                </a:solidFill>
                <a:latin typeface="Arial"/>
                <a:ea typeface="Arial"/>
                <a:cs typeface="Arial"/>
                <a:sym typeface="Arial"/>
              </a:rPr>
              <a:t>BIG LOOPS</a:t>
            </a:r>
            <a:r>
              <a:rPr b="0" i="0" lang="en" sz="1200" u="none" cap="none" strike="noStrike">
                <a:solidFill>
                  <a:srgbClr val="4A4A4A"/>
                </a:solidFill>
                <a:latin typeface="Arial"/>
                <a:ea typeface="Arial"/>
                <a:cs typeface="Arial"/>
                <a:sym typeface="Arial"/>
              </a:rPr>
              <a:t>  — product feedback</a:t>
            </a:r>
            <a:endParaRPr/>
          </a:p>
        </p:txBody>
      </p:sp>
      <p:sp>
        <p:nvSpPr>
          <p:cNvPr id="197" name="Google Shape;197;p29"/>
          <p:cNvSpPr/>
          <p:nvPr/>
        </p:nvSpPr>
        <p:spPr>
          <a:xfrm>
            <a:off x="1188720" y="2468880"/>
            <a:ext cx="3931920" cy="1463040"/>
          </a:xfrm>
          <a:prstGeom prst="roundRect">
            <a:avLst>
              <a:gd fmla="val 9000" name="adj"/>
            </a:avLst>
          </a:prstGeom>
          <a:noFill/>
          <a:ln cap="flat" cmpd="sng" w="22225">
            <a:solidFill>
              <a:srgbClr val="FF67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29"/>
          <p:cNvSpPr txBox="1"/>
          <p:nvPr/>
        </p:nvSpPr>
        <p:spPr>
          <a:xfrm>
            <a:off x="1463040" y="2633472"/>
            <a:ext cx="33832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FF671D"/>
                </a:solidFill>
                <a:latin typeface="Arial"/>
                <a:ea typeface="Arial"/>
                <a:cs typeface="Arial"/>
                <a:sym typeface="Arial"/>
              </a:rPr>
              <a:t>LITTLE LOOPS</a:t>
            </a:r>
            <a:r>
              <a:rPr b="0" i="0" lang="en" sz="1200" u="none" cap="none" strike="noStrike">
                <a:solidFill>
                  <a:srgbClr val="4A4A4A"/>
                </a:solidFill>
                <a:latin typeface="Arial"/>
                <a:ea typeface="Arial"/>
                <a:cs typeface="Arial"/>
                <a:sym typeface="Arial"/>
              </a:rPr>
              <a:t>  — agent tasks</a:t>
            </a:r>
            <a:endParaRPr/>
          </a:p>
        </p:txBody>
      </p:sp>
      <p:sp>
        <p:nvSpPr>
          <p:cNvPr id="199" name="Google Shape;199;p29"/>
          <p:cNvSpPr txBox="1"/>
          <p:nvPr/>
        </p:nvSpPr>
        <p:spPr>
          <a:xfrm>
            <a:off x="1463040" y="3063240"/>
            <a:ext cx="338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D0D0D"/>
                </a:solidFill>
                <a:latin typeface="Arial"/>
                <a:ea typeface="Arial"/>
                <a:cs typeface="Arial"/>
                <a:sym typeface="Arial"/>
              </a:rPr>
              <a:t>define done · test · watch · </a:t>
            </a:r>
            <a:r>
              <a:rPr b="1" lang="en">
                <a:solidFill>
                  <a:srgbClr val="0D0D0D"/>
                </a:solidFill>
              </a:rPr>
              <a:t>push</a:t>
            </a:r>
            <a:endParaRPr/>
          </a:p>
        </p:txBody>
      </p:sp>
      <p:sp>
        <p:nvSpPr>
          <p:cNvPr id="200" name="Google Shape;200;p29"/>
          <p:cNvSpPr txBox="1"/>
          <p:nvPr/>
        </p:nvSpPr>
        <p:spPr>
          <a:xfrm>
            <a:off x="6035040" y="2148840"/>
            <a:ext cx="27432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FF671D"/>
                </a:solidFill>
                <a:latin typeface="Arial"/>
                <a:ea typeface="Arial"/>
                <a:cs typeface="Arial"/>
                <a:sym typeface="Arial"/>
              </a:rPr>
              <a:t>Little loops </a:t>
            </a:r>
            <a:r>
              <a:rPr b="0" i="0" lang="en" sz="1500" u="none" cap="none" strike="noStrike">
                <a:solidFill>
                  <a:srgbClr val="0D0D0D"/>
                </a:solidFill>
                <a:latin typeface="Arial"/>
                <a:ea typeface="Arial"/>
                <a:cs typeface="Arial"/>
                <a:sym typeface="Arial"/>
              </a:rPr>
              <a:t>→ a demo that works by Sunday</a:t>
            </a:r>
            <a:endParaRPr/>
          </a:p>
        </p:txBody>
      </p:sp>
      <p:sp>
        <p:nvSpPr>
          <p:cNvPr id="201" name="Google Shape;201;p29"/>
          <p:cNvSpPr txBox="1"/>
          <p:nvPr/>
        </p:nvSpPr>
        <p:spPr>
          <a:xfrm>
            <a:off x="6035040" y="3154680"/>
            <a:ext cx="27432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2970FF"/>
                </a:solidFill>
                <a:latin typeface="Arial"/>
                <a:ea typeface="Arial"/>
                <a:cs typeface="Arial"/>
                <a:sym typeface="Arial"/>
              </a:rPr>
              <a:t>Big + biggest </a:t>
            </a:r>
            <a:r>
              <a:rPr b="0" i="0" lang="en" sz="1500" u="none" cap="none" strike="noStrike">
                <a:solidFill>
                  <a:srgbClr val="0D0D0D"/>
                </a:solidFill>
                <a:latin typeface="Arial"/>
                <a:ea typeface="Arial"/>
                <a:cs typeface="Arial"/>
                <a:sym typeface="Arial"/>
              </a:rPr>
              <a:t>→ impact that compounds</a:t>
            </a:r>
            <a:endParaRPr/>
          </a:p>
        </p:txBody>
      </p:sp>
      <p:sp>
        <p:nvSpPr>
          <p:cNvPr id="202" name="Google Shape;202;p29"/>
          <p:cNvSpPr txBox="1"/>
          <p:nvPr/>
        </p:nvSpPr>
        <p:spPr>
          <a:xfrm>
            <a:off x="548640" y="4617720"/>
            <a:ext cx="81381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500" u="none" cap="none" strike="noStrike">
                <a:solidFill>
                  <a:srgbClr val="4A4A4A"/>
                </a:solidFill>
                <a:latin typeface="Arial"/>
                <a:ea typeface="Arial"/>
                <a:cs typeface="Arial"/>
                <a:sym typeface="Arial"/>
              </a:rPr>
              <a:t>Same rule at every scale: </a:t>
            </a:r>
            <a:r>
              <a:rPr b="1" i="0" lang="en" sz="1500" u="none" cap="none" strike="noStrike">
                <a:solidFill>
                  <a:srgbClr val="0D0D0D"/>
                </a:solidFill>
                <a:latin typeface="Arial"/>
                <a:ea typeface="Arial"/>
                <a:cs typeface="Arial"/>
                <a:sym typeface="Arial"/>
              </a:rPr>
              <a:t>know what done looks like — and be able to see 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30"/>
          <p:cNvSpPr txBox="1"/>
          <p:nvPr/>
        </p:nvSpPr>
        <p:spPr>
          <a:xfrm>
            <a:off x="548640" y="411480"/>
            <a:ext cx="822960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FF671D"/>
                </a:solidFill>
                <a:latin typeface="Arial"/>
                <a:ea typeface="Arial"/>
                <a:cs typeface="Arial"/>
                <a:sym typeface="Arial"/>
              </a:rPr>
              <a:t>Little loops: </a:t>
            </a:r>
            <a:r>
              <a:rPr b="1" i="0" lang="en" sz="2600" u="none" cap="none" strike="noStrike">
                <a:solidFill>
                  <a:srgbClr val="0D0D0D"/>
                </a:solidFill>
                <a:latin typeface="Arial"/>
                <a:ea typeface="Arial"/>
                <a:cs typeface="Arial"/>
                <a:sym typeface="Arial"/>
              </a:rPr>
              <a:t>define “done” for every agent task</a:t>
            </a:r>
            <a:endParaRPr/>
          </a:p>
        </p:txBody>
      </p:sp>
      <p:sp>
        <p:nvSpPr>
          <p:cNvPr id="209" name="Google Shape;209;p30"/>
          <p:cNvSpPr/>
          <p:nvPr/>
        </p:nvSpPr>
        <p:spPr>
          <a:xfrm>
            <a:off x="640080" y="1755648"/>
            <a:ext cx="146304" cy="146304"/>
          </a:xfrm>
          <a:prstGeom prst="ellipse">
            <a:avLst/>
          </a:prstGeom>
          <a:solidFill>
            <a:srgbClr val="FF67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30"/>
          <p:cNvSpPr txBox="1"/>
          <p:nvPr/>
        </p:nvSpPr>
        <p:spPr>
          <a:xfrm>
            <a:off x="960120" y="1691640"/>
            <a:ext cx="4480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00" u="none" cap="none" strike="noStrike">
                <a:solidFill>
                  <a:srgbClr val="0D0D0D"/>
                </a:solidFill>
                <a:latin typeface="Arial"/>
                <a:ea typeface="Arial"/>
                <a:cs typeface="Arial"/>
                <a:sym typeface="Arial"/>
              </a:rPr>
              <a:t>a test that passes</a:t>
            </a:r>
            <a:endParaRPr/>
          </a:p>
        </p:txBody>
      </p:sp>
      <p:sp>
        <p:nvSpPr>
          <p:cNvPr id="211" name="Google Shape;211;p30"/>
          <p:cNvSpPr/>
          <p:nvPr/>
        </p:nvSpPr>
        <p:spPr>
          <a:xfrm>
            <a:off x="640080" y="2322576"/>
            <a:ext cx="146304" cy="146304"/>
          </a:xfrm>
          <a:prstGeom prst="ellipse">
            <a:avLst/>
          </a:prstGeom>
          <a:solidFill>
            <a:srgbClr val="FF67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30"/>
          <p:cNvSpPr txBox="1"/>
          <p:nvPr/>
        </p:nvSpPr>
        <p:spPr>
          <a:xfrm>
            <a:off x="960120" y="2258568"/>
            <a:ext cx="4480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00" u="none" cap="none" strike="noStrike">
                <a:solidFill>
                  <a:srgbClr val="0D0D0D"/>
                </a:solidFill>
                <a:latin typeface="Arial"/>
                <a:ea typeface="Arial"/>
                <a:cs typeface="Arial"/>
                <a:sym typeface="Arial"/>
              </a:rPr>
              <a:t>a log line that shows up</a:t>
            </a:r>
            <a:endParaRPr/>
          </a:p>
        </p:txBody>
      </p:sp>
      <p:sp>
        <p:nvSpPr>
          <p:cNvPr id="213" name="Google Shape;213;p30"/>
          <p:cNvSpPr/>
          <p:nvPr/>
        </p:nvSpPr>
        <p:spPr>
          <a:xfrm>
            <a:off x="640080" y="2889504"/>
            <a:ext cx="146304" cy="146304"/>
          </a:xfrm>
          <a:prstGeom prst="ellipse">
            <a:avLst/>
          </a:prstGeom>
          <a:solidFill>
            <a:srgbClr val="FF67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30"/>
          <p:cNvSpPr txBox="1"/>
          <p:nvPr/>
        </p:nvSpPr>
        <p:spPr>
          <a:xfrm>
            <a:off x="960120" y="2825496"/>
            <a:ext cx="4480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00" u="none" cap="none" strike="noStrike">
                <a:solidFill>
                  <a:srgbClr val="0D0D0D"/>
                </a:solidFill>
                <a:latin typeface="Arial"/>
                <a:ea typeface="Arial"/>
                <a:cs typeface="Arial"/>
                <a:sym typeface="Arial"/>
              </a:rPr>
              <a:t>a Playwright run that actually clicks the button</a:t>
            </a:r>
            <a:endParaRPr/>
          </a:p>
        </p:txBody>
      </p:sp>
      <p:sp>
        <p:nvSpPr>
          <p:cNvPr id="215" name="Google Shape;215;p30"/>
          <p:cNvSpPr txBox="1"/>
          <p:nvPr/>
        </p:nvSpPr>
        <p:spPr>
          <a:xfrm>
            <a:off x="640080" y="3657600"/>
            <a:ext cx="4754880"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D0D0D"/>
                </a:solidFill>
                <a:latin typeface="Arial"/>
                <a:ea typeface="Arial"/>
                <a:cs typeface="Arial"/>
                <a:sym typeface="Arial"/>
              </a:rPr>
              <a:t>Agents grind in parallel.</a:t>
            </a:r>
            <a:br>
              <a:rPr b="0" i="0" lang="en" sz="1500" u="none" cap="none" strike="noStrike">
                <a:solidFill>
                  <a:srgbClr val="4A4A4A"/>
                </a:solidFill>
                <a:latin typeface="Arial"/>
                <a:ea typeface="Arial"/>
                <a:cs typeface="Arial"/>
                <a:sym typeface="Arial"/>
              </a:rPr>
            </a:br>
            <a:r>
              <a:rPr b="0" i="0" lang="en" sz="1500" u="none" cap="none" strike="noStrike">
                <a:solidFill>
                  <a:srgbClr val="4A4A4A"/>
                </a:solidFill>
                <a:latin typeface="Arial"/>
                <a:ea typeface="Arial"/>
                <a:cs typeface="Arial"/>
                <a:sym typeface="Arial"/>
              </a:rPr>
              <a:t>You brainstorm the next user flow with your team — you’re designing, not babysitting.</a:t>
            </a:r>
            <a:endParaRPr/>
          </a:p>
        </p:txBody>
      </p:sp>
      <p:pic>
        <p:nvPicPr>
          <p:cNvPr descr="grot.png" id="216" name="Google Shape;216;p30"/>
          <p:cNvPicPr preferRelativeResize="0"/>
          <p:nvPr/>
        </p:nvPicPr>
        <p:blipFill rotWithShape="1">
          <a:blip r:embed="rId3">
            <a:alphaModFix/>
          </a:blip>
          <a:srcRect b="0" l="0" r="0" t="0"/>
          <a:stretch/>
        </p:blipFill>
        <p:spPr>
          <a:xfrm>
            <a:off x="5760720" y="1234440"/>
            <a:ext cx="3108960" cy="31089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E"/>
        </a:solidFill>
      </p:bgPr>
    </p:bg>
    <p:spTree>
      <p:nvGrpSpPr>
        <p:cNvPr id="221" name="Shape 221"/>
        <p:cNvGrpSpPr/>
        <p:nvPr/>
      </p:nvGrpSpPr>
      <p:grpSpPr>
        <a:xfrm>
          <a:off x="0" y="0"/>
          <a:ext cx="0" cy="0"/>
          <a:chOff x="0" y="0"/>
          <a:chExt cx="0" cy="0"/>
        </a:xfrm>
      </p:grpSpPr>
      <p:sp>
        <p:nvSpPr>
          <p:cNvPr id="222" name="Google Shape;222;p31"/>
          <p:cNvSpPr txBox="1"/>
          <p:nvPr/>
        </p:nvSpPr>
        <p:spPr>
          <a:xfrm>
            <a:off x="457200" y="365760"/>
            <a:ext cx="8229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3000" u="none" cap="none" strike="noStrike">
                <a:solidFill>
                  <a:srgbClr val="FFFFFF"/>
                </a:solidFill>
                <a:latin typeface="Arial"/>
                <a:ea typeface="Arial"/>
                <a:cs typeface="Arial"/>
                <a:sym typeface="Arial"/>
              </a:rPr>
              <a:t>See what</a:t>
            </a:r>
            <a:r>
              <a:rPr b="1" lang="en" sz="3000">
                <a:solidFill>
                  <a:srgbClr val="FFFFFF"/>
                </a:solidFill>
              </a:rPr>
              <a:t>’s </a:t>
            </a:r>
            <a:r>
              <a:rPr b="1" i="0" lang="en" sz="3000" u="none" cap="none" strike="noStrike">
                <a:solidFill>
                  <a:srgbClr val="FFFFFF"/>
                </a:solidFill>
                <a:latin typeface="Arial"/>
                <a:ea typeface="Arial"/>
                <a:cs typeface="Arial"/>
                <a:sym typeface="Arial"/>
              </a:rPr>
              <a:t>actually </a:t>
            </a:r>
            <a:r>
              <a:rPr b="1" lang="en" sz="3000">
                <a:solidFill>
                  <a:srgbClr val="FFFFFF"/>
                </a:solidFill>
              </a:rPr>
              <a:t>happening</a:t>
            </a:r>
            <a:endParaRPr/>
          </a:p>
        </p:txBody>
      </p:sp>
      <p:pic>
        <p:nvPicPr>
          <p:cNvPr descr="trace.png" id="223" name="Google Shape;223;p31"/>
          <p:cNvPicPr preferRelativeResize="0"/>
          <p:nvPr/>
        </p:nvPicPr>
        <p:blipFill rotWithShape="1">
          <a:blip r:embed="rId3">
            <a:alphaModFix/>
          </a:blip>
          <a:srcRect b="0" l="0" r="0" t="0"/>
          <a:stretch/>
        </p:blipFill>
        <p:spPr>
          <a:xfrm>
            <a:off x="457200" y="1097280"/>
            <a:ext cx="5303520" cy="2724912"/>
          </a:xfrm>
          <a:prstGeom prst="rect">
            <a:avLst/>
          </a:prstGeom>
          <a:noFill/>
          <a:ln>
            <a:noFill/>
          </a:ln>
        </p:spPr>
      </p:pic>
      <p:sp>
        <p:nvSpPr>
          <p:cNvPr id="224" name="Google Shape;224;p31"/>
          <p:cNvSpPr txBox="1"/>
          <p:nvPr/>
        </p:nvSpPr>
        <p:spPr>
          <a:xfrm>
            <a:off x="457200" y="3931920"/>
            <a:ext cx="53035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200" u="none" cap="none" strike="noStrike">
                <a:solidFill>
                  <a:srgbClr val="B8B8B8"/>
                </a:solidFill>
                <a:latin typeface="Arial"/>
                <a:ea typeface="Arial"/>
                <a:cs typeface="Arial"/>
                <a:sym typeface="Arial"/>
              </a:rPr>
              <a:t>Traces: the whole flow, span by span</a:t>
            </a:r>
            <a:endParaRPr/>
          </a:p>
        </p:txBody>
      </p:sp>
      <p:pic>
        <p:nvPicPr>
          <p:cNvPr descr="logs.png" id="225" name="Google Shape;225;p31"/>
          <p:cNvPicPr preferRelativeResize="0"/>
          <p:nvPr/>
        </p:nvPicPr>
        <p:blipFill rotWithShape="1">
          <a:blip r:embed="rId4">
            <a:alphaModFix/>
          </a:blip>
          <a:srcRect b="0" l="0" r="0" t="0"/>
          <a:stretch/>
        </p:blipFill>
        <p:spPr>
          <a:xfrm>
            <a:off x="6080760" y="1097280"/>
            <a:ext cx="2697480" cy="1335024"/>
          </a:xfrm>
          <a:prstGeom prst="rect">
            <a:avLst/>
          </a:prstGeom>
          <a:noFill/>
          <a:ln>
            <a:noFill/>
          </a:ln>
        </p:spPr>
      </p:pic>
      <p:sp>
        <p:nvSpPr>
          <p:cNvPr id="226" name="Google Shape;226;p31"/>
          <p:cNvSpPr txBox="1"/>
          <p:nvPr/>
        </p:nvSpPr>
        <p:spPr>
          <a:xfrm>
            <a:off x="6080760" y="2542032"/>
            <a:ext cx="26974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200" u="none" cap="none" strike="noStrike">
                <a:solidFill>
                  <a:srgbClr val="B8B8B8"/>
                </a:solidFill>
                <a:latin typeface="Arial"/>
                <a:ea typeface="Arial"/>
                <a:cs typeface="Arial"/>
                <a:sym typeface="Arial"/>
              </a:rPr>
              <a:t>Logs: one query, errors only</a:t>
            </a:r>
            <a:endParaRPr/>
          </a:p>
        </p:txBody>
      </p:sp>
      <p:sp>
        <p:nvSpPr>
          <p:cNvPr id="227" name="Google Shape;227;p31"/>
          <p:cNvSpPr/>
          <p:nvPr/>
        </p:nvSpPr>
        <p:spPr>
          <a:xfrm>
            <a:off x="6080760" y="3017520"/>
            <a:ext cx="2697480" cy="868680"/>
          </a:xfrm>
          <a:prstGeom prst="roundRect">
            <a:avLst>
              <a:gd fmla="val 6000" name="adj"/>
            </a:avLst>
          </a:prstGeom>
          <a:solidFill>
            <a:srgbClr val="1A1B20"/>
          </a:solidFill>
          <a:ln cap="flat" cmpd="sng" w="9525">
            <a:solidFill>
              <a:srgbClr val="3A3A3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 sz="950" u="none" cap="none" strike="noStrike">
                <a:solidFill>
                  <a:srgbClr val="9EE8C5"/>
                </a:solidFill>
                <a:latin typeface="Courier New"/>
                <a:ea typeface="Courier New"/>
                <a:cs typeface="Courier New"/>
                <a:sym typeface="Courier New"/>
              </a:rPr>
              <a:t>{service_name="checkoutservice"}</a:t>
            </a:r>
            <a:br>
              <a:rPr b="0" i="0" lang="en" sz="950" u="none" cap="none" strike="noStrike">
                <a:solidFill>
                  <a:srgbClr val="9EE8C5"/>
                </a:solidFill>
                <a:latin typeface="Courier New"/>
                <a:ea typeface="Courier New"/>
                <a:cs typeface="Courier New"/>
                <a:sym typeface="Courier New"/>
              </a:rPr>
            </a:br>
            <a:r>
              <a:rPr b="0" i="0" lang="en" sz="950" u="none" cap="none" strike="noStrike">
                <a:solidFill>
                  <a:srgbClr val="9EE8C5"/>
                </a:solidFill>
                <a:latin typeface="Courier New"/>
                <a:ea typeface="Courier New"/>
                <a:cs typeface="Courier New"/>
                <a:sym typeface="Courier New"/>
              </a:rPr>
              <a:t>| detected_level="error"</a:t>
            </a:r>
            <a:endParaRPr/>
          </a:p>
        </p:txBody>
      </p:sp>
      <p:sp>
        <p:nvSpPr>
          <p:cNvPr id="228" name="Google Shape;228;p31"/>
          <p:cNvSpPr txBox="1"/>
          <p:nvPr/>
        </p:nvSpPr>
        <p:spPr>
          <a:xfrm>
            <a:off x="457200" y="4572000"/>
            <a:ext cx="822960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600" u="none" cap="none" strike="noStrike">
                <a:solidFill>
                  <a:srgbClr val="FFFFFF"/>
                </a:solidFill>
                <a:latin typeface="Arial"/>
                <a:ea typeface="Arial"/>
                <a:cs typeface="Arial"/>
                <a:sym typeface="Arial"/>
              </a:rPr>
              <a:t>Half a day is enough to build something sophisticated — </a:t>
            </a:r>
            <a:r>
              <a:rPr b="1" i="0" lang="en" sz="1600" u="none" cap="none" strike="noStrike">
                <a:solidFill>
                  <a:srgbClr val="FF671D"/>
                </a:solidFill>
                <a:latin typeface="Arial"/>
                <a:ea typeface="Arial"/>
                <a:cs typeface="Arial"/>
                <a:sym typeface="Arial"/>
              </a:rPr>
              <a:t>if you can see 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32"/>
          <p:cNvSpPr txBox="1"/>
          <p:nvPr/>
        </p:nvSpPr>
        <p:spPr>
          <a:xfrm>
            <a:off x="548640" y="457200"/>
            <a:ext cx="80467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300" u="none" cap="none" strike="noStrike">
                <a:solidFill>
                  <a:srgbClr val="FF671D"/>
                </a:solidFill>
                <a:latin typeface="Arial"/>
                <a:ea typeface="Arial"/>
                <a:cs typeface="Arial"/>
                <a:sym typeface="Arial"/>
              </a:rPr>
              <a:t>BIG LOOPS — THE TRAP OF BUILDING ON AI</a:t>
            </a:r>
            <a:endParaRPr/>
          </a:p>
        </p:txBody>
      </p:sp>
      <p:sp>
        <p:nvSpPr>
          <p:cNvPr id="235" name="Google Shape;235;p32"/>
          <p:cNvSpPr txBox="1"/>
          <p:nvPr/>
        </p:nvSpPr>
        <p:spPr>
          <a:xfrm>
            <a:off x="548640" y="1005840"/>
            <a:ext cx="4206240" cy="1554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D0D0D"/>
                </a:solidFill>
                <a:latin typeface="Arial"/>
                <a:ea typeface="Arial"/>
                <a:cs typeface="Arial"/>
                <a:sym typeface="Arial"/>
              </a:rPr>
              <a:t>AI always returns something </a:t>
            </a:r>
            <a:r>
              <a:rPr b="1" i="1" lang="en" sz="2600" u="none" cap="none" strike="noStrike">
                <a:solidFill>
                  <a:srgbClr val="FF671D"/>
                </a:solidFill>
                <a:latin typeface="Arial"/>
                <a:ea typeface="Arial"/>
                <a:cs typeface="Arial"/>
                <a:sym typeface="Arial"/>
              </a:rPr>
              <a:t>shaped</a:t>
            </a:r>
            <a:r>
              <a:rPr b="1" i="0" lang="en" sz="2600" u="none" cap="none" strike="noStrike">
                <a:solidFill>
                  <a:srgbClr val="0D0D0D"/>
                </a:solidFill>
                <a:latin typeface="Arial"/>
                <a:ea typeface="Arial"/>
                <a:cs typeface="Arial"/>
                <a:sym typeface="Arial"/>
              </a:rPr>
              <a:t> like a good answer.</a:t>
            </a:r>
            <a:endParaRPr/>
          </a:p>
        </p:txBody>
      </p:sp>
      <p:sp>
        <p:nvSpPr>
          <p:cNvPr id="236" name="Google Shape;236;p32"/>
          <p:cNvSpPr txBox="1"/>
          <p:nvPr/>
        </p:nvSpPr>
        <p:spPr>
          <a:xfrm>
            <a:off x="548640" y="2697480"/>
            <a:ext cx="420624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500" u="none" cap="none" strike="noStrike">
                <a:solidFill>
                  <a:srgbClr val="4A4A4A"/>
                </a:solidFill>
                <a:latin typeface="Arial"/>
                <a:ea typeface="Arial"/>
                <a:cs typeface="Arial"/>
                <a:sym typeface="Arial"/>
              </a:rPr>
              <a:t>Your users can’t verify it either — they don’t know the right answer.</a:t>
            </a:r>
            <a:endParaRPr/>
          </a:p>
        </p:txBody>
      </p:sp>
      <p:sp>
        <p:nvSpPr>
          <p:cNvPr id="237" name="Google Shape;237;p32"/>
          <p:cNvSpPr txBox="1"/>
          <p:nvPr/>
        </p:nvSpPr>
        <p:spPr>
          <a:xfrm>
            <a:off x="548640" y="3337560"/>
            <a:ext cx="420624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D0D0D"/>
                </a:solidFill>
                <a:latin typeface="Arial"/>
                <a:ea typeface="Arial"/>
                <a:cs typeface="Arial"/>
                <a:sym typeface="Arial"/>
              </a:rPr>
              <a:t>“80% useful” can mean “wasted your afternoon.”</a:t>
            </a:r>
            <a:endParaRPr/>
          </a:p>
        </p:txBody>
      </p:sp>
      <p:pic>
        <p:nvPicPr>
          <p:cNvPr descr="aiobs.png" id="238" name="Google Shape;238;p32"/>
          <p:cNvPicPr preferRelativeResize="0"/>
          <p:nvPr/>
        </p:nvPicPr>
        <p:blipFill rotWithShape="1">
          <a:blip r:embed="rId3">
            <a:alphaModFix/>
          </a:blip>
          <a:srcRect b="0" l="0" r="0" t="0"/>
          <a:stretch/>
        </p:blipFill>
        <p:spPr>
          <a:xfrm>
            <a:off x="5029200" y="1005840"/>
            <a:ext cx="3657600" cy="2231136"/>
          </a:xfrm>
          <a:prstGeom prst="rect">
            <a:avLst/>
          </a:prstGeom>
          <a:noFill/>
          <a:ln>
            <a:noFill/>
          </a:ln>
        </p:spPr>
      </p:pic>
      <p:sp>
        <p:nvSpPr>
          <p:cNvPr id="239" name="Google Shape;239;p32"/>
          <p:cNvSpPr txBox="1"/>
          <p:nvPr/>
        </p:nvSpPr>
        <p:spPr>
          <a:xfrm>
            <a:off x="5029200" y="3310128"/>
            <a:ext cx="365760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50" u="none" cap="none" strike="noStrike">
                <a:solidFill>
                  <a:srgbClr val="4A4A4A"/>
                </a:solidFill>
                <a:latin typeface="Arial"/>
                <a:ea typeface="Arial"/>
                <a:cs typeface="Arial"/>
                <a:sym typeface="Arial"/>
              </a:rPr>
              <a:t>AI Observability: error rate per agent, errors by code — out of the box</a:t>
            </a:r>
            <a:endParaRPr/>
          </a:p>
        </p:txBody>
      </p:sp>
      <p:sp>
        <p:nvSpPr>
          <p:cNvPr id="240" name="Google Shape;240;p32"/>
          <p:cNvSpPr/>
          <p:nvPr/>
        </p:nvSpPr>
        <p:spPr>
          <a:xfrm>
            <a:off x="548640" y="4069080"/>
            <a:ext cx="8046720" cy="731520"/>
          </a:xfrm>
          <a:prstGeom prst="roundRect">
            <a:avLst>
              <a:gd fmla="val 6000" name="adj"/>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32"/>
          <p:cNvSpPr txBox="1"/>
          <p:nvPr/>
        </p:nvSpPr>
        <p:spPr>
          <a:xfrm>
            <a:off x="822960" y="4270248"/>
            <a:ext cx="7498079"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D0D0D"/>
                </a:solidFill>
                <a:latin typeface="Arial"/>
                <a:ea typeface="Arial"/>
                <a:cs typeface="Arial"/>
                <a:sym typeface="Arial"/>
              </a:rPr>
              <a:t>The defense: instrument the product itself. </a:t>
            </a:r>
            <a:r>
              <a:rPr b="0" i="0" lang="en" sz="1400" u="none" cap="none" strike="noStrike">
                <a:solidFill>
                  <a:srgbClr val="4A4A4A"/>
                </a:solidFill>
                <a:latin typeface="Arial"/>
                <a:ea typeface="Arial"/>
                <a:cs typeface="Arial"/>
                <a:sym typeface="Arial"/>
              </a:rPr>
              <a:t>Which outputs got used? Where did people bail? What did they retry?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33"/>
          <p:cNvSpPr txBox="1"/>
          <p:nvPr/>
        </p:nvSpPr>
        <p:spPr>
          <a:xfrm>
            <a:off x="548640" y="411480"/>
            <a:ext cx="80467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3200" u="none" cap="none" strike="noStrike">
                <a:solidFill>
                  <a:srgbClr val="0D0D0D"/>
                </a:solidFill>
                <a:latin typeface="Arial"/>
                <a:ea typeface="Arial"/>
                <a:cs typeface="Arial"/>
                <a:sym typeface="Arial"/>
              </a:rPr>
              <a:t>The biggest loop is your growth story</a:t>
            </a:r>
            <a:endParaRPr/>
          </a:p>
        </p:txBody>
      </p:sp>
      <p:sp>
        <p:nvSpPr>
          <p:cNvPr id="248" name="Google Shape;248;p33"/>
          <p:cNvSpPr/>
          <p:nvPr/>
        </p:nvSpPr>
        <p:spPr>
          <a:xfrm>
            <a:off x="1188720" y="1417320"/>
            <a:ext cx="2011680" cy="868680"/>
          </a:xfrm>
          <a:prstGeom prst="roundRect">
            <a:avLst>
              <a:gd fmla="val 12000" name="adj"/>
            </a:avLst>
          </a:prstGeom>
          <a:solidFill>
            <a:srgbClr val="FEE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400" u="none" cap="none" strike="noStrike">
                <a:solidFill>
                  <a:srgbClr val="0D0D0D"/>
                </a:solidFill>
                <a:latin typeface="Arial"/>
                <a:ea typeface="Arial"/>
                <a:cs typeface="Arial"/>
                <a:sym typeface="Arial"/>
              </a:rPr>
              <a:t>People arrive —</a:t>
            </a:r>
            <a:endParaRPr/>
          </a:p>
          <a:p>
            <a:pPr indent="0" lvl="0" marL="0" marR="0" rtl="0" algn="ctr">
              <a:spcBef>
                <a:spcPts val="0"/>
              </a:spcBef>
              <a:spcAft>
                <a:spcPts val="0"/>
              </a:spcAft>
              <a:buNone/>
            </a:pPr>
            <a:r>
              <a:rPr b="1" i="0" lang="en" sz="1400" u="none" cap="none" strike="noStrike">
                <a:solidFill>
                  <a:srgbClr val="0D0D0D"/>
                </a:solidFill>
                <a:latin typeface="Arial"/>
                <a:ea typeface="Arial"/>
                <a:cs typeface="Arial"/>
                <a:sym typeface="Arial"/>
              </a:rPr>
              <a:t>for a reason</a:t>
            </a:r>
            <a:endParaRPr/>
          </a:p>
        </p:txBody>
      </p:sp>
      <p:sp>
        <p:nvSpPr>
          <p:cNvPr id="249" name="Google Shape;249;p33"/>
          <p:cNvSpPr/>
          <p:nvPr/>
        </p:nvSpPr>
        <p:spPr>
          <a:xfrm>
            <a:off x="5943600" y="1417320"/>
            <a:ext cx="2011680" cy="868680"/>
          </a:xfrm>
          <a:prstGeom prst="roundRect">
            <a:avLst>
              <a:gd fmla="val 12000" name="adj"/>
            </a:avLst>
          </a:prstGeom>
          <a:solidFill>
            <a:srgbClr val="D9E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400" u="none" cap="none" strike="noStrike">
                <a:solidFill>
                  <a:srgbClr val="0D0D0D"/>
                </a:solidFill>
                <a:latin typeface="Arial"/>
                <a:ea typeface="Arial"/>
                <a:cs typeface="Arial"/>
                <a:sym typeface="Arial"/>
              </a:rPr>
              <a:t>They use it</a:t>
            </a:r>
            <a:endParaRPr/>
          </a:p>
        </p:txBody>
      </p:sp>
      <p:sp>
        <p:nvSpPr>
          <p:cNvPr id="250" name="Google Shape;250;p33"/>
          <p:cNvSpPr/>
          <p:nvPr/>
        </p:nvSpPr>
        <p:spPr>
          <a:xfrm>
            <a:off x="5943600" y="3246120"/>
            <a:ext cx="2011680" cy="868680"/>
          </a:xfrm>
          <a:prstGeom prst="roundRect">
            <a:avLst>
              <a:gd fmla="val 12000" name="adj"/>
            </a:avLst>
          </a:prstGeom>
          <a:solidFill>
            <a:srgbClr val="E3F5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400" u="none" cap="none" strike="noStrike">
                <a:solidFill>
                  <a:srgbClr val="0D0D0D"/>
                </a:solidFill>
                <a:latin typeface="Arial"/>
                <a:ea typeface="Arial"/>
                <a:cs typeface="Arial"/>
                <a:sym typeface="Arial"/>
              </a:rPr>
              <a:t>Usage creates</a:t>
            </a:r>
            <a:endParaRPr/>
          </a:p>
          <a:p>
            <a:pPr indent="0" lvl="0" marL="0" marR="0" rtl="0" algn="ctr">
              <a:spcBef>
                <a:spcPts val="0"/>
              </a:spcBef>
              <a:spcAft>
                <a:spcPts val="0"/>
              </a:spcAft>
              <a:buNone/>
            </a:pPr>
            <a:r>
              <a:rPr b="1" i="0" lang="en" sz="1400" u="none" cap="none" strike="noStrike">
                <a:solidFill>
                  <a:srgbClr val="0D0D0D"/>
                </a:solidFill>
                <a:latin typeface="Arial"/>
                <a:ea typeface="Arial"/>
                <a:cs typeface="Arial"/>
                <a:sym typeface="Arial"/>
              </a:rPr>
              <a:t>data</a:t>
            </a:r>
            <a:endParaRPr/>
          </a:p>
        </p:txBody>
      </p:sp>
      <p:sp>
        <p:nvSpPr>
          <p:cNvPr id="251" name="Google Shape;251;p33"/>
          <p:cNvSpPr/>
          <p:nvPr/>
        </p:nvSpPr>
        <p:spPr>
          <a:xfrm>
            <a:off x="1188720" y="3246120"/>
            <a:ext cx="2011680" cy="868680"/>
          </a:xfrm>
          <a:prstGeom prst="roundRect">
            <a:avLst>
              <a:gd fmla="val 12000" name="adj"/>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400" u="none" cap="none" strike="noStrike">
                <a:solidFill>
                  <a:srgbClr val="0D0D0D"/>
                </a:solidFill>
                <a:latin typeface="Arial"/>
                <a:ea typeface="Arial"/>
                <a:cs typeface="Arial"/>
                <a:sym typeface="Arial"/>
              </a:rPr>
              <a:t>Data makes it</a:t>
            </a:r>
            <a:endParaRPr/>
          </a:p>
          <a:p>
            <a:pPr indent="0" lvl="0" marL="0" marR="0" rtl="0" algn="ctr">
              <a:spcBef>
                <a:spcPts val="0"/>
              </a:spcBef>
              <a:spcAft>
                <a:spcPts val="0"/>
              </a:spcAft>
              <a:buNone/>
            </a:pPr>
            <a:r>
              <a:rPr b="1" i="0" lang="en" sz="1400" u="none" cap="none" strike="noStrike">
                <a:solidFill>
                  <a:srgbClr val="0D0D0D"/>
                </a:solidFill>
                <a:latin typeface="Arial"/>
                <a:ea typeface="Arial"/>
                <a:cs typeface="Arial"/>
                <a:sym typeface="Arial"/>
              </a:rPr>
              <a:t>better</a:t>
            </a:r>
            <a:endParaRPr/>
          </a:p>
        </p:txBody>
      </p:sp>
      <p:sp>
        <p:nvSpPr>
          <p:cNvPr id="252" name="Google Shape;252;p33"/>
          <p:cNvSpPr/>
          <p:nvPr/>
        </p:nvSpPr>
        <p:spPr>
          <a:xfrm>
            <a:off x="3474720" y="1691640"/>
            <a:ext cx="2194560" cy="320040"/>
          </a:xfrm>
          <a:prstGeom prst="rightArrow">
            <a:avLst>
              <a:gd fmla="val 50000" name="adj1"/>
              <a:gd fmla="val 50000" name="adj2"/>
            </a:avLst>
          </a:prstGeom>
          <a:solidFill>
            <a:srgbClr val="FEE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33"/>
          <p:cNvSpPr/>
          <p:nvPr/>
        </p:nvSpPr>
        <p:spPr>
          <a:xfrm>
            <a:off x="6784848" y="2423160"/>
            <a:ext cx="320040" cy="685800"/>
          </a:xfrm>
          <a:prstGeom prst="downArrow">
            <a:avLst>
              <a:gd fmla="val 50000" name="adj1"/>
              <a:gd fmla="val 50000" name="adj2"/>
            </a:avLst>
          </a:prstGeom>
          <a:solidFill>
            <a:srgbClr val="D9E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33"/>
          <p:cNvSpPr/>
          <p:nvPr/>
        </p:nvSpPr>
        <p:spPr>
          <a:xfrm>
            <a:off x="3474720" y="3520440"/>
            <a:ext cx="2194560" cy="320040"/>
          </a:xfrm>
          <a:prstGeom prst="leftArrow">
            <a:avLst>
              <a:gd fmla="val 50000" name="adj1"/>
              <a:gd fmla="val 50000" name="adj2"/>
            </a:avLst>
          </a:prstGeom>
          <a:solidFill>
            <a:srgbClr val="E3F5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33"/>
          <p:cNvSpPr/>
          <p:nvPr/>
        </p:nvSpPr>
        <p:spPr>
          <a:xfrm>
            <a:off x="2029968" y="2423160"/>
            <a:ext cx="320040" cy="685800"/>
          </a:xfrm>
          <a:prstGeom prst="upArrow">
            <a:avLst>
              <a:gd fmla="val 50000" name="adj1"/>
              <a:gd fmla="val 50000" name="adj2"/>
            </a:avLst>
          </a:prstGeom>
          <a:solidFill>
            <a:srgbClr val="E8E8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33"/>
          <p:cNvSpPr txBox="1"/>
          <p:nvPr/>
        </p:nvSpPr>
        <p:spPr>
          <a:xfrm>
            <a:off x="3520440" y="2624328"/>
            <a:ext cx="2103120" cy="3200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 sz="1200" u="none" cap="none" strike="noStrike">
                <a:solidFill>
                  <a:srgbClr val="4A4A4A"/>
                </a:solidFill>
                <a:latin typeface="Arial"/>
                <a:ea typeface="Arial"/>
                <a:cs typeface="Arial"/>
                <a:sym typeface="Arial"/>
              </a:rPr>
              <a:t>…and more people arrive</a:t>
            </a:r>
            <a:endParaRPr/>
          </a:p>
        </p:txBody>
      </p:sp>
      <p:sp>
        <p:nvSpPr>
          <p:cNvPr id="257" name="Google Shape;257;p33"/>
          <p:cNvSpPr txBox="1"/>
          <p:nvPr/>
        </p:nvSpPr>
        <p:spPr>
          <a:xfrm>
            <a:off x="548640" y="4526280"/>
            <a:ext cx="813816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500" u="none" cap="none" strike="noStrike">
                <a:solidFill>
                  <a:srgbClr val="4A4A4A"/>
                </a:solidFill>
                <a:latin typeface="Arial"/>
                <a:ea typeface="Arial"/>
                <a:cs typeface="Arial"/>
                <a:sym typeface="Arial"/>
              </a:rPr>
              <a:t>That’s what “real impact” means on the scoresheet: </a:t>
            </a:r>
            <a:r>
              <a:rPr b="1" i="0" lang="en" sz="1500" u="none" cap="none" strike="noStrike">
                <a:solidFill>
                  <a:srgbClr val="0D0D0D"/>
                </a:solidFill>
                <a:latin typeface="Arial"/>
                <a:ea typeface="Arial"/>
                <a:cs typeface="Arial"/>
                <a:sym typeface="Arial"/>
              </a:rPr>
              <a:t>not what you built — why it compounds.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dark_sticker_bg.png" id="263" name="Google Shape;263;p3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64" name="Google Shape;264;p34"/>
          <p:cNvSpPr txBox="1"/>
          <p:nvPr/>
        </p:nvSpPr>
        <p:spPr>
          <a:xfrm>
            <a:off x="1371600" y="1600200"/>
            <a:ext cx="6400800" cy="1371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3400" u="none" cap="none" strike="noStrike">
                <a:solidFill>
                  <a:srgbClr val="FFFFFF"/>
                </a:solidFill>
                <a:latin typeface="Arial"/>
                <a:ea typeface="Arial"/>
                <a:cs typeface="Arial"/>
                <a:sym typeface="Arial"/>
              </a:rPr>
              <a:t>A flywheel you can’t see</a:t>
            </a:r>
            <a:endParaRPr/>
          </a:p>
          <a:p>
            <a:pPr indent="0" lvl="0" marL="0" marR="0" rtl="0" algn="ctr">
              <a:spcBef>
                <a:spcPts val="0"/>
              </a:spcBef>
              <a:spcAft>
                <a:spcPts val="0"/>
              </a:spcAft>
              <a:buNone/>
            </a:pPr>
            <a:r>
              <a:rPr b="1" i="0" lang="en" sz="3400" u="none" cap="none" strike="noStrike">
                <a:solidFill>
                  <a:srgbClr val="FFFFFF"/>
                </a:solidFill>
                <a:latin typeface="Arial"/>
                <a:ea typeface="Arial"/>
                <a:cs typeface="Arial"/>
                <a:sym typeface="Arial"/>
              </a:rPr>
              <a:t>isn’t a flywheel.</a:t>
            </a:r>
            <a:endParaRPr/>
          </a:p>
        </p:txBody>
      </p:sp>
      <p:sp>
        <p:nvSpPr>
          <p:cNvPr id="265" name="Google Shape;265;p34"/>
          <p:cNvSpPr txBox="1"/>
          <p:nvPr/>
        </p:nvSpPr>
        <p:spPr>
          <a:xfrm>
            <a:off x="1371600" y="3063240"/>
            <a:ext cx="6400800" cy="7315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4000" u="none" cap="none" strike="noStrike">
                <a:solidFill>
                  <a:srgbClr val="FF671D"/>
                </a:solidFill>
                <a:latin typeface="Arial"/>
                <a:ea typeface="Arial"/>
                <a:cs typeface="Arial"/>
                <a:sym typeface="Arial"/>
              </a:rPr>
              <a:t>It’s a claim.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35"/>
          <p:cNvSpPr txBox="1"/>
          <p:nvPr/>
        </p:nvSpPr>
        <p:spPr>
          <a:xfrm>
            <a:off x="548640" y="411480"/>
            <a:ext cx="8046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200">
                <a:solidFill>
                  <a:srgbClr val="0D0D0D"/>
                </a:solidFill>
              </a:rPr>
              <a:t>Sunday, then beyond hackathons</a:t>
            </a:r>
            <a:endParaRPr/>
          </a:p>
        </p:txBody>
      </p:sp>
      <p:sp>
        <p:nvSpPr>
          <p:cNvPr id="272" name="Google Shape;272;p35"/>
          <p:cNvSpPr/>
          <p:nvPr/>
        </p:nvSpPr>
        <p:spPr>
          <a:xfrm>
            <a:off x="548640" y="1280160"/>
            <a:ext cx="3931920" cy="2880360"/>
          </a:xfrm>
          <a:prstGeom prst="roundRect">
            <a:avLst>
              <a:gd fmla="val 6000" name="adj"/>
            </a:avLst>
          </a:prstGeom>
          <a:solidFill>
            <a:srgbClr val="FEE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35"/>
          <p:cNvSpPr txBox="1"/>
          <p:nvPr/>
        </p:nvSpPr>
        <p:spPr>
          <a:xfrm>
            <a:off x="868680" y="1536192"/>
            <a:ext cx="32918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FF671D"/>
                </a:solidFill>
                <a:latin typeface="Arial"/>
                <a:ea typeface="Arial"/>
                <a:cs typeface="Arial"/>
                <a:sym typeface="Arial"/>
              </a:rPr>
              <a:t>YOUR PITCH SCRIPT</a:t>
            </a:r>
            <a:endParaRPr/>
          </a:p>
        </p:txBody>
      </p:sp>
      <p:sp>
        <p:nvSpPr>
          <p:cNvPr id="274" name="Google Shape;274;p35"/>
          <p:cNvSpPr txBox="1"/>
          <p:nvPr/>
        </p:nvSpPr>
        <p:spPr>
          <a:xfrm>
            <a:off x="868680" y="1965960"/>
            <a:ext cx="3291900" cy="178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700">
                <a:solidFill>
                  <a:srgbClr val="0D0D0D"/>
                </a:solidFill>
              </a:rPr>
              <a:t>Vision: here’s how real users will start with confidence</a:t>
            </a:r>
            <a:endParaRPr b="1" sz="1700">
              <a:solidFill>
                <a:srgbClr val="0D0D0D"/>
              </a:solidFill>
            </a:endParaRPr>
          </a:p>
          <a:p>
            <a:pPr indent="0" lvl="0" marL="0" marR="0" rtl="0" algn="l">
              <a:spcBef>
                <a:spcPts val="0"/>
              </a:spcBef>
              <a:spcAft>
                <a:spcPts val="0"/>
              </a:spcAft>
              <a:buNone/>
            </a:pPr>
            <a:r>
              <a:t/>
            </a:r>
            <a:endParaRPr b="1" sz="1700">
              <a:solidFill>
                <a:srgbClr val="0D0D0D"/>
              </a:solidFill>
            </a:endParaRPr>
          </a:p>
          <a:p>
            <a:pPr indent="0" lvl="0" marL="0" marR="0" rtl="0" algn="l">
              <a:spcBef>
                <a:spcPts val="0"/>
              </a:spcBef>
              <a:spcAft>
                <a:spcPts val="0"/>
              </a:spcAft>
              <a:buNone/>
            </a:pPr>
            <a:r>
              <a:rPr b="1" lang="en" sz="1700">
                <a:solidFill>
                  <a:srgbClr val="0D0D0D"/>
                </a:solidFill>
              </a:rPr>
              <a:t>How the value grows</a:t>
            </a:r>
            <a:endParaRPr/>
          </a:p>
          <a:p>
            <a:pPr indent="0" lvl="0" marL="0" marR="0" rtl="0" algn="l">
              <a:spcBef>
                <a:spcPts val="0"/>
              </a:spcBef>
              <a:spcAft>
                <a:spcPts val="0"/>
              </a:spcAft>
              <a:buNone/>
            </a:pPr>
            <a:r>
              <a:t/>
            </a:r>
            <a:endParaRPr b="1" i="0" sz="1700" u="none" cap="none" strike="noStrike">
              <a:solidFill>
                <a:srgbClr val="0D0D0D"/>
              </a:solidFill>
              <a:latin typeface="Arial"/>
              <a:ea typeface="Arial"/>
              <a:cs typeface="Arial"/>
              <a:sym typeface="Arial"/>
            </a:endParaRPr>
          </a:p>
          <a:p>
            <a:pPr indent="0" lvl="0" marL="0" marR="0" rtl="0" algn="l">
              <a:spcBef>
                <a:spcPts val="0"/>
              </a:spcBef>
              <a:spcAft>
                <a:spcPts val="0"/>
              </a:spcAft>
              <a:buNone/>
            </a:pPr>
            <a:r>
              <a:rPr b="1" lang="en" sz="1700">
                <a:solidFill>
                  <a:srgbClr val="0D0D0D"/>
                </a:solidFill>
              </a:rPr>
              <a:t>Proof it works</a:t>
            </a:r>
            <a:endParaRPr/>
          </a:p>
          <a:p>
            <a:pPr indent="0" lvl="0" marL="0" marR="0" rtl="0" algn="l">
              <a:spcBef>
                <a:spcPts val="0"/>
              </a:spcBef>
              <a:spcAft>
                <a:spcPts val="0"/>
              </a:spcAft>
              <a:buNone/>
            </a:pPr>
            <a:r>
              <a:t/>
            </a:r>
            <a:endParaRPr/>
          </a:p>
        </p:txBody>
      </p:sp>
      <p:sp>
        <p:nvSpPr>
          <p:cNvPr id="275" name="Google Shape;275;p35"/>
          <p:cNvSpPr/>
          <p:nvPr/>
        </p:nvSpPr>
        <p:spPr>
          <a:xfrm>
            <a:off x="4846320" y="1280160"/>
            <a:ext cx="3749039" cy="1325880"/>
          </a:xfrm>
          <a:prstGeom prst="roundRect">
            <a:avLst>
              <a:gd fmla="val 6000" name="adj"/>
            </a:avLst>
          </a:prstGeom>
          <a:solidFill>
            <a:srgbClr val="D9E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35"/>
          <p:cNvSpPr txBox="1"/>
          <p:nvPr/>
        </p:nvSpPr>
        <p:spPr>
          <a:xfrm>
            <a:off x="5120640" y="1481328"/>
            <a:ext cx="3200400" cy="861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500">
                <a:solidFill>
                  <a:srgbClr val="0D0D0D"/>
                </a:solidFill>
              </a:rPr>
              <a:t>After the hackathon</a:t>
            </a:r>
            <a:r>
              <a:rPr b="1" i="0" lang="en" sz="1500" u="none" cap="none" strike="noStrike">
                <a:solidFill>
                  <a:srgbClr val="0D0D0D"/>
                </a:solidFill>
                <a:latin typeface="Arial"/>
                <a:ea typeface="Arial"/>
                <a:cs typeface="Arial"/>
                <a:sym typeface="Arial"/>
              </a:rPr>
              <a:t>: </a:t>
            </a:r>
            <a:r>
              <a:rPr b="0" i="1" lang="en" sz="1500" u="none" cap="none" strike="noStrike">
                <a:solidFill>
                  <a:srgbClr val="0D0D0D"/>
                </a:solidFill>
                <a:latin typeface="Arial"/>
                <a:ea typeface="Arial"/>
                <a:cs typeface="Arial"/>
                <a:sym typeface="Arial"/>
              </a:rPr>
              <a:t>“How do you know?”</a:t>
            </a:r>
            <a:endParaRPr/>
          </a:p>
          <a:p>
            <a:pPr indent="0" lvl="0" marL="0" marR="0" rtl="0" algn="l">
              <a:spcBef>
                <a:spcPts val="0"/>
              </a:spcBef>
              <a:spcAft>
                <a:spcPts val="0"/>
              </a:spcAft>
              <a:buNone/>
            </a:pPr>
            <a:r>
              <a:rPr b="0" i="0" lang="en" sz="1300" u="none" cap="none" strike="noStrike">
                <a:solidFill>
                  <a:srgbClr val="4A4A4A"/>
                </a:solidFill>
                <a:latin typeface="Arial"/>
                <a:ea typeface="Arial"/>
                <a:cs typeface="Arial"/>
                <a:sym typeface="Arial"/>
              </a:rPr>
              <a:t>Instrumentation is the difference between an answer and a shrug.</a:t>
            </a:r>
            <a:endParaRPr/>
          </a:p>
        </p:txBody>
      </p:sp>
      <p:sp>
        <p:nvSpPr>
          <p:cNvPr id="277" name="Google Shape;277;p35"/>
          <p:cNvSpPr/>
          <p:nvPr/>
        </p:nvSpPr>
        <p:spPr>
          <a:xfrm>
            <a:off x="4846320" y="2834640"/>
            <a:ext cx="3749039" cy="1325880"/>
          </a:xfrm>
          <a:prstGeom prst="roundRect">
            <a:avLst>
              <a:gd fmla="val 6000" name="adj"/>
            </a:avLst>
          </a:prstGeom>
          <a:solidFill>
            <a:srgbClr val="F4F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35"/>
          <p:cNvSpPr txBox="1"/>
          <p:nvPr/>
        </p:nvSpPr>
        <p:spPr>
          <a:xfrm>
            <a:off x="5120640" y="3035808"/>
            <a:ext cx="3200400" cy="861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D0D0D"/>
                </a:solidFill>
                <a:latin typeface="Arial"/>
                <a:ea typeface="Arial"/>
                <a:cs typeface="Arial"/>
                <a:sym typeface="Arial"/>
              </a:rPr>
              <a:t>The same evidence works on investors </a:t>
            </a:r>
            <a:r>
              <a:rPr b="1" i="0" lang="en" sz="1500" u="none" cap="none" strike="noStrike">
                <a:solidFill>
                  <a:srgbClr val="0D0D0D"/>
                </a:solidFill>
                <a:latin typeface="Arial"/>
                <a:ea typeface="Arial"/>
                <a:cs typeface="Arial"/>
                <a:sym typeface="Arial"/>
              </a:rPr>
              <a:t>— </a:t>
            </a:r>
            <a:r>
              <a:rPr b="1" lang="en" sz="1500">
                <a:solidFill>
                  <a:srgbClr val="0D0D0D"/>
                </a:solidFill>
              </a:rPr>
              <a:t>or</a:t>
            </a:r>
            <a:r>
              <a:rPr b="1" i="0" lang="en" sz="1500" u="none" cap="none" strike="noStrike">
                <a:solidFill>
                  <a:srgbClr val="0D0D0D"/>
                </a:solidFill>
                <a:latin typeface="Arial"/>
                <a:ea typeface="Arial"/>
                <a:cs typeface="Arial"/>
                <a:sym typeface="Arial"/>
              </a:rPr>
              <a:t> your leadership.</a:t>
            </a:r>
            <a:endParaRPr/>
          </a:p>
          <a:p>
            <a:pPr indent="0" lvl="0" marL="0" marR="0" rtl="0" algn="l">
              <a:spcBef>
                <a:spcPts val="0"/>
              </a:spcBef>
              <a:spcAft>
                <a:spcPts val="0"/>
              </a:spcAft>
              <a:buNone/>
            </a:pPr>
            <a:r>
              <a:rPr b="0" i="0" lang="en" sz="1300" u="none" cap="none" strike="noStrike">
                <a:solidFill>
                  <a:srgbClr val="4A4A4A"/>
                </a:solidFill>
                <a:latin typeface="Arial"/>
                <a:ea typeface="Arial"/>
                <a:cs typeface="Arial"/>
                <a:sym typeface="Arial"/>
              </a:rPr>
              <a:t>Growth story + instrumentation = proof. Without it: a pitch deck.</a:t>
            </a:r>
            <a:endParaRPr/>
          </a:p>
        </p:txBody>
      </p:sp>
      <p:sp>
        <p:nvSpPr>
          <p:cNvPr id="279" name="Google Shape;279;p35"/>
          <p:cNvSpPr txBox="1"/>
          <p:nvPr/>
        </p:nvSpPr>
        <p:spPr>
          <a:xfrm>
            <a:off x="548640" y="4434840"/>
            <a:ext cx="8046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500">
                <a:solidFill>
                  <a:srgbClr val="4A4A4A"/>
                </a:solidFill>
              </a:rPr>
              <a:t>A few minutes or judges now; bigger pitches (with proof) down the road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pic>
        <p:nvPicPr>
          <p:cNvPr descr="logo_color.png" id="285" name="Google Shape;285;p36"/>
          <p:cNvPicPr preferRelativeResize="0"/>
          <p:nvPr/>
        </p:nvPicPr>
        <p:blipFill rotWithShape="1">
          <a:blip r:embed="rId3">
            <a:alphaModFix/>
          </a:blip>
          <a:srcRect b="0" l="0" r="0" t="0"/>
          <a:stretch/>
        </p:blipFill>
        <p:spPr>
          <a:xfrm>
            <a:off x="548640" y="384048"/>
            <a:ext cx="566928" cy="621792"/>
          </a:xfrm>
          <a:prstGeom prst="rect">
            <a:avLst/>
          </a:prstGeom>
          <a:noFill/>
          <a:ln>
            <a:noFill/>
          </a:ln>
        </p:spPr>
      </p:pic>
      <p:sp>
        <p:nvSpPr>
          <p:cNvPr id="286" name="Google Shape;286;p36"/>
          <p:cNvSpPr txBox="1"/>
          <p:nvPr/>
        </p:nvSpPr>
        <p:spPr>
          <a:xfrm>
            <a:off x="1325880" y="457200"/>
            <a:ext cx="73152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3400" u="none" cap="none" strike="noStrike">
                <a:solidFill>
                  <a:srgbClr val="0D0D0D"/>
                </a:solidFill>
                <a:latin typeface="Arial"/>
                <a:ea typeface="Arial"/>
                <a:cs typeface="Arial"/>
                <a:sym typeface="Arial"/>
              </a:rPr>
              <a:t>Grafana has your back</a:t>
            </a:r>
            <a:endParaRPr/>
          </a:p>
        </p:txBody>
      </p:sp>
      <p:sp>
        <p:nvSpPr>
          <p:cNvPr id="287" name="Google Shape;287;p36"/>
          <p:cNvSpPr/>
          <p:nvPr/>
        </p:nvSpPr>
        <p:spPr>
          <a:xfrm>
            <a:off x="548640" y="1463040"/>
            <a:ext cx="3931920" cy="1691640"/>
          </a:xfrm>
          <a:prstGeom prst="roundRect">
            <a:avLst>
              <a:gd fmla="val 6000" name="adj"/>
            </a:avLst>
          </a:prstGeom>
          <a:solidFill>
            <a:srgbClr val="FEE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36"/>
          <p:cNvSpPr txBox="1"/>
          <p:nvPr/>
        </p:nvSpPr>
        <p:spPr>
          <a:xfrm>
            <a:off x="868680" y="1737360"/>
            <a:ext cx="32919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400" u="none" cap="none" strike="noStrike">
                <a:solidFill>
                  <a:srgbClr val="0D0D0D"/>
                </a:solidFill>
                <a:latin typeface="Arial"/>
                <a:ea typeface="Arial"/>
                <a:cs typeface="Arial"/>
                <a:sym typeface="Arial"/>
              </a:rPr>
              <a:t>Free </a:t>
            </a:r>
            <a:r>
              <a:rPr b="1" i="0" lang="en" sz="2400" u="none" cap="none" strike="noStrike">
                <a:solidFill>
                  <a:srgbClr val="0D0D0D"/>
                </a:solidFill>
                <a:latin typeface="Arial"/>
                <a:ea typeface="Arial"/>
                <a:cs typeface="Arial"/>
                <a:sym typeface="Arial"/>
              </a:rPr>
              <a:t>forever</a:t>
            </a:r>
            <a:endParaRPr/>
          </a:p>
        </p:txBody>
      </p:sp>
      <p:sp>
        <p:nvSpPr>
          <p:cNvPr id="289" name="Google Shape;289;p36"/>
          <p:cNvSpPr txBox="1"/>
          <p:nvPr/>
        </p:nvSpPr>
        <p:spPr>
          <a:xfrm>
            <a:off x="868680" y="2286000"/>
            <a:ext cx="329184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50" u="none" cap="none" strike="noStrike">
                <a:solidFill>
                  <a:srgbClr val="4A4A4A"/>
                </a:solidFill>
                <a:latin typeface="Arial"/>
                <a:ea typeface="Arial"/>
                <a:cs typeface="Arial"/>
                <a:sym typeface="Arial"/>
              </a:rPr>
              <a:t>Grafana Cloud’s free tier for small teams — this weekend, and long after it</a:t>
            </a:r>
            <a:endParaRPr/>
          </a:p>
        </p:txBody>
      </p:sp>
      <p:sp>
        <p:nvSpPr>
          <p:cNvPr id="290" name="Google Shape;290;p36"/>
          <p:cNvSpPr/>
          <p:nvPr/>
        </p:nvSpPr>
        <p:spPr>
          <a:xfrm>
            <a:off x="4754880" y="1463040"/>
            <a:ext cx="3931920" cy="1691640"/>
          </a:xfrm>
          <a:prstGeom prst="roundRect">
            <a:avLst>
              <a:gd fmla="val 6000" name="adj"/>
            </a:avLst>
          </a:prstGeom>
          <a:solidFill>
            <a:srgbClr val="E3F5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36"/>
          <p:cNvSpPr txBox="1"/>
          <p:nvPr/>
        </p:nvSpPr>
        <p:spPr>
          <a:xfrm>
            <a:off x="5074920" y="1737360"/>
            <a:ext cx="32918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400" u="none" cap="none" strike="noStrike">
                <a:solidFill>
                  <a:srgbClr val="0D0D0D"/>
                </a:solidFill>
                <a:latin typeface="Arial"/>
                <a:ea typeface="Arial"/>
                <a:cs typeface="Arial"/>
                <a:sym typeface="Arial"/>
              </a:rPr>
              <a:t>No lock-in</a:t>
            </a:r>
            <a:endParaRPr/>
          </a:p>
        </p:txBody>
      </p:sp>
      <p:sp>
        <p:nvSpPr>
          <p:cNvPr id="292" name="Google Shape;292;p36"/>
          <p:cNvSpPr txBox="1"/>
          <p:nvPr/>
        </p:nvSpPr>
        <p:spPr>
          <a:xfrm>
            <a:off x="5074920" y="2286000"/>
            <a:ext cx="329184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50" u="none" cap="none" strike="noStrike">
                <a:solidFill>
                  <a:srgbClr val="4A4A4A"/>
                </a:solidFill>
                <a:latin typeface="Arial"/>
                <a:ea typeface="Arial"/>
                <a:cs typeface="Arial"/>
                <a:sym typeface="Arial"/>
              </a:rPr>
              <a:t>Open source at the core — when you grow, you grow on your terms</a:t>
            </a:r>
            <a:endParaRPr/>
          </a:p>
        </p:txBody>
      </p:sp>
      <p:sp>
        <p:nvSpPr>
          <p:cNvPr id="293" name="Google Shape;293;p36"/>
          <p:cNvSpPr txBox="1"/>
          <p:nvPr/>
        </p:nvSpPr>
        <p:spPr>
          <a:xfrm>
            <a:off x="548640" y="3611880"/>
            <a:ext cx="81381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D0D0D"/>
                </a:solidFill>
                <a:latin typeface="Arial"/>
                <a:ea typeface="Arial"/>
                <a:cs typeface="Arial"/>
                <a:sym typeface="Arial"/>
              </a:rPr>
              <a:t>Minutes to wire up: </a:t>
            </a:r>
            <a:r>
              <a:rPr b="0" i="0" lang="en" sz="1600" u="none" cap="none" strike="noStrike">
                <a:solidFill>
                  <a:srgbClr val="4A4A4A"/>
                </a:solidFill>
                <a:latin typeface="Arial"/>
                <a:ea typeface="Arial"/>
                <a:cs typeface="Arial"/>
                <a:sym typeface="Arial"/>
              </a:rPr>
              <a:t>agent traces  ·  error logs  ·  product + flywheel metrics</a:t>
            </a:r>
            <a:endParaRPr/>
          </a:p>
        </p:txBody>
      </p:sp>
      <p:sp>
        <p:nvSpPr>
          <p:cNvPr id="294" name="Google Shape;294;p36"/>
          <p:cNvSpPr txBox="1"/>
          <p:nvPr/>
        </p:nvSpPr>
        <p:spPr>
          <a:xfrm>
            <a:off x="548640" y="4160520"/>
            <a:ext cx="813816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FF671D"/>
                </a:solidFill>
                <a:latin typeface="Arial"/>
                <a:ea typeface="Arial"/>
                <a:cs typeface="Arial"/>
                <a:sym typeface="Arial"/>
              </a:rPr>
              <a:t>Watch it. Don’t wonder.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descr="dark_sticker_bg.png" id="300" name="Google Shape;300;p3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01" name="Google Shape;301;p37"/>
          <p:cNvSpPr/>
          <p:nvPr/>
        </p:nvSpPr>
        <p:spPr>
          <a:xfrm>
            <a:off x="3703320" y="777240"/>
            <a:ext cx="1737360" cy="1737360"/>
          </a:xfrm>
          <a:prstGeom prst="roundRect">
            <a:avLst>
              <a:gd fmla="val 8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qr_signup.png" id="302" name="Google Shape;302;p37"/>
          <p:cNvPicPr preferRelativeResize="0"/>
          <p:nvPr/>
        </p:nvPicPr>
        <p:blipFill rotWithShape="1">
          <a:blip r:embed="rId4">
            <a:alphaModFix/>
          </a:blip>
          <a:srcRect b="0" l="0" r="0" t="0"/>
          <a:stretch/>
        </p:blipFill>
        <p:spPr>
          <a:xfrm>
            <a:off x="3813048" y="886968"/>
            <a:ext cx="1517904" cy="1517904"/>
          </a:xfrm>
          <a:prstGeom prst="rect">
            <a:avLst/>
          </a:prstGeom>
          <a:noFill/>
          <a:ln>
            <a:noFill/>
          </a:ln>
        </p:spPr>
      </p:pic>
      <p:sp>
        <p:nvSpPr>
          <p:cNvPr id="303" name="Google Shape;303;p37"/>
          <p:cNvSpPr txBox="1"/>
          <p:nvPr/>
        </p:nvSpPr>
        <p:spPr>
          <a:xfrm>
            <a:off x="3200400" y="2633472"/>
            <a:ext cx="2743200" cy="3200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 sz="1300" u="none" cap="none" strike="noStrike">
                <a:solidFill>
                  <a:srgbClr val="B8B8B8"/>
                </a:solidFill>
                <a:latin typeface="Arial"/>
                <a:ea typeface="Arial"/>
                <a:cs typeface="Arial"/>
                <a:sym typeface="Arial"/>
              </a:rPr>
              <a:t>Grafana Cloud — free</a:t>
            </a:r>
            <a:endParaRPr/>
          </a:p>
        </p:txBody>
      </p:sp>
      <p:sp>
        <p:nvSpPr>
          <p:cNvPr id="304" name="Google Shape;304;p37"/>
          <p:cNvSpPr txBox="1"/>
          <p:nvPr/>
        </p:nvSpPr>
        <p:spPr>
          <a:xfrm>
            <a:off x="1828800" y="3154680"/>
            <a:ext cx="5486400"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700" u="none" cap="none" strike="noStrike">
                <a:solidFill>
                  <a:srgbClr val="FFFFFF"/>
                </a:solidFill>
                <a:latin typeface="Arial"/>
                <a:ea typeface="Arial"/>
                <a:cs typeface="Arial"/>
                <a:sym typeface="Arial"/>
              </a:rPr>
              <a:t>Jo’s workshop · this afternoon · 20 min</a:t>
            </a:r>
            <a:endParaRPr/>
          </a:p>
        </p:txBody>
      </p:sp>
      <p:sp>
        <p:nvSpPr>
          <p:cNvPr id="305" name="Google Shape;305;p37"/>
          <p:cNvSpPr txBox="1"/>
          <p:nvPr/>
        </p:nvSpPr>
        <p:spPr>
          <a:xfrm>
            <a:off x="1828800" y="3611880"/>
            <a:ext cx="5486400" cy="3200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 sz="1400" u="none" cap="none" strike="noStrike">
                <a:solidFill>
                  <a:srgbClr val="B8B8B8"/>
                </a:solidFill>
                <a:latin typeface="Arial"/>
                <a:ea typeface="Arial"/>
                <a:cs typeface="Arial"/>
                <a:sym typeface="Arial"/>
              </a:rPr>
              <a:t>mentoring all weekend — en français aussi</a:t>
            </a:r>
            <a:endParaRPr/>
          </a:p>
        </p:txBody>
      </p:sp>
      <p:sp>
        <p:nvSpPr>
          <p:cNvPr id="306" name="Google Shape;306;p37"/>
          <p:cNvSpPr txBox="1"/>
          <p:nvPr/>
        </p:nvSpPr>
        <p:spPr>
          <a:xfrm>
            <a:off x="1828800" y="4206240"/>
            <a:ext cx="5486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2200" u="none" cap="none" strike="noStrike">
                <a:solidFill>
                  <a:srgbClr val="FFFFFF"/>
                </a:solidFill>
                <a:latin typeface="Arial"/>
                <a:ea typeface="Arial"/>
                <a:cs typeface="Arial"/>
                <a:sym typeface="Arial"/>
              </a:rPr>
              <a:t>Build the path. </a:t>
            </a:r>
            <a:r>
              <a:rPr b="1" i="0" lang="en" sz="2200" u="none" cap="none" strike="noStrike">
                <a:solidFill>
                  <a:srgbClr val="FF671D"/>
                </a:solidFill>
                <a:latin typeface="Arial"/>
                <a:ea typeface="Arial"/>
                <a:cs typeface="Arial"/>
                <a:sym typeface="Arial"/>
              </a:rPr>
              <a:t>Instrument the loop.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